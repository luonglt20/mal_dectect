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zAv0PV6PYrlbipHXshVG9OaIM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Robot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e3356221a_0_3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e3356221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e3356221a_9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de3356221a_9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e3356221a_9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de3356221a_9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e3356221a_9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de3356221a_9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e3356221a_9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de3356221a_9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e3356221a_9_1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de3356221a_9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e3356221a_9_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de3356221a_9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e3356221a_9_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de3356221a_9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e3356221a_9_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de3356221a_9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6ebb040dd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d6ebb040dd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e3356221a_9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de3356221a_9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e3356221a_9_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e3356221a_9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6ebb040dd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d6ebb040d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6ebb040dd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d6ebb040dd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6ebb040dd_0_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d6ebb040dd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6ebb040dd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d6ebb040dd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6ebb040dd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d6ebb040dd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R01" type="title">
  <p:cSld name="TITLE">
    <p:spTree>
      <p:nvGrpSpPr>
        <p:cNvPr id="9" name="Shape 9"/>
        <p:cNvGrpSpPr/>
        <p:nvPr/>
      </p:nvGrpSpPr>
      <p:grpSpPr>
        <a:xfrm>
          <a:off x="0" y="0"/>
          <a:ext cx="0" cy="0"/>
          <a:chOff x="0" y="0"/>
          <a:chExt cx="0" cy="0"/>
        </a:xfrm>
      </p:grpSpPr>
      <p:sp>
        <p:nvSpPr>
          <p:cNvPr id="10" name="Google Shape;10;p1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2"/>
          <p:cNvSpPr/>
          <p:nvPr/>
        </p:nvSpPr>
        <p:spPr>
          <a:xfrm flipH="1">
            <a:off x="8246400" y="4245875"/>
            <a:ext cx="897600" cy="897600"/>
          </a:xfrm>
          <a:prstGeom prst="round1Rect">
            <a:avLst>
              <a:gd fmla="val 16667" name="adj"/>
            </a:avLst>
          </a:prstGeom>
          <a:solidFill>
            <a:schemeClr val="lt1">
              <a:alpha val="6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2"/>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 name="Google Shape;13;p12"/>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01" type="secHead">
  <p:cSld name="SECTION_HEADER">
    <p:spTree>
      <p:nvGrpSpPr>
        <p:cNvPr id="14" name="Shape 14"/>
        <p:cNvGrpSpPr/>
        <p:nvPr/>
      </p:nvGrpSpPr>
      <p:grpSpPr>
        <a:xfrm>
          <a:off x="0" y="0"/>
          <a:ext cx="0" cy="0"/>
          <a:chOff x="0" y="0"/>
          <a:chExt cx="0" cy="0"/>
        </a:xfrm>
      </p:grpSpPr>
      <p:sp>
        <p:nvSpPr>
          <p:cNvPr id="15" name="Google Shape;15;p13"/>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R01" type="tx">
  <p:cSld name="TITLE_AND_BODY">
    <p:spTree>
      <p:nvGrpSpPr>
        <p:cNvPr id="16" name="Shape 16"/>
        <p:cNvGrpSpPr/>
        <p:nvPr/>
      </p:nvGrpSpPr>
      <p:grpSpPr>
        <a:xfrm>
          <a:off x="0" y="0"/>
          <a:ext cx="0" cy="0"/>
          <a:chOff x="0" y="0"/>
          <a:chExt cx="0" cy="0"/>
        </a:xfrm>
      </p:grpSpPr>
      <p:sp>
        <p:nvSpPr>
          <p:cNvPr id="17" name="Google Shape;17;p14"/>
          <p:cNvSpPr/>
          <p:nvPr/>
        </p:nvSpPr>
        <p:spPr>
          <a:xfrm flipH="1" rot="10800000">
            <a:off x="0" y="728400"/>
            <a:ext cx="9144000" cy="408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4"/>
          <p:cNvSpPr/>
          <p:nvPr/>
        </p:nvSpPr>
        <p:spPr>
          <a:xfrm>
            <a:off x="0" y="711888"/>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type="title"/>
          </p:nvPr>
        </p:nvSpPr>
        <p:spPr>
          <a:xfrm>
            <a:off x="471900" y="57875"/>
            <a:ext cx="8222100" cy="67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0" name="Google Shape;20;p14"/>
          <p:cNvSpPr txBox="1"/>
          <p:nvPr>
            <p:ph idx="1" type="body"/>
          </p:nvPr>
        </p:nvSpPr>
        <p:spPr>
          <a:xfrm>
            <a:off x="471900" y="820500"/>
            <a:ext cx="8222100" cy="3908400"/>
          </a:xfrm>
          <a:prstGeom prst="rect">
            <a:avLst/>
          </a:prstGeom>
          <a:noFill/>
          <a:ln>
            <a:noFill/>
          </a:ln>
        </p:spPr>
        <p:txBody>
          <a:bodyPr anchorCtr="0" anchor="t" bIns="91425" lIns="91425" spcFirstLastPara="1" rIns="91425" wrap="square" tIns="91425">
            <a:noAutofit/>
          </a:bodyPr>
          <a:lstStyle>
            <a:lvl1pPr indent="-368300" lvl="0" marL="457200" algn="l">
              <a:lnSpc>
                <a:spcPct val="115000"/>
              </a:lnSpc>
              <a:spcBef>
                <a:spcPts val="0"/>
              </a:spcBef>
              <a:spcAft>
                <a:spcPts val="0"/>
              </a:spcAft>
              <a:buClr>
                <a:srgbClr val="000000"/>
              </a:buClr>
              <a:buSzPts val="2200"/>
              <a:buChar char="●"/>
              <a:defRPr sz="2200">
                <a:solidFill>
                  <a:srgbClr val="000000"/>
                </a:solidFill>
              </a:defRPr>
            </a:lvl1pPr>
            <a:lvl2pPr indent="-355600" lvl="1" marL="914400" algn="l">
              <a:lnSpc>
                <a:spcPct val="115000"/>
              </a:lnSpc>
              <a:spcBef>
                <a:spcPts val="1600"/>
              </a:spcBef>
              <a:spcAft>
                <a:spcPts val="0"/>
              </a:spcAft>
              <a:buClr>
                <a:srgbClr val="000000"/>
              </a:buClr>
              <a:buSzPts val="2000"/>
              <a:buChar char="○"/>
              <a:defRPr sz="2000">
                <a:solidFill>
                  <a:srgbClr val="000000"/>
                </a:solidFill>
              </a:defRPr>
            </a:lvl2pPr>
            <a:lvl3pPr indent="-342900" lvl="2" marL="1371600" algn="l">
              <a:lnSpc>
                <a:spcPct val="115000"/>
              </a:lnSpc>
              <a:spcBef>
                <a:spcPts val="1600"/>
              </a:spcBef>
              <a:spcAft>
                <a:spcPts val="0"/>
              </a:spcAft>
              <a:buClr>
                <a:srgbClr val="000000"/>
              </a:buClr>
              <a:buSzPts val="1800"/>
              <a:buChar char="■"/>
              <a:defRPr sz="1800">
                <a:solidFill>
                  <a:srgbClr val="000000"/>
                </a:solidFill>
              </a:defRPr>
            </a:lvl3pPr>
            <a:lvl4pPr indent="-330200" lvl="3" marL="1828800" algn="l">
              <a:lnSpc>
                <a:spcPct val="115000"/>
              </a:lnSpc>
              <a:spcBef>
                <a:spcPts val="1600"/>
              </a:spcBef>
              <a:spcAft>
                <a:spcPts val="0"/>
              </a:spcAft>
              <a:buClr>
                <a:srgbClr val="000000"/>
              </a:buClr>
              <a:buSzPts val="1600"/>
              <a:buChar char="●"/>
              <a:defRPr sz="1600">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SzPts val="1400"/>
              <a:buChar char="■"/>
              <a:defRPr/>
            </a:lvl9pPr>
          </a:lstStyle>
          <a:p/>
        </p:txBody>
      </p:sp>
      <p:sp>
        <p:nvSpPr>
          <p:cNvPr id="21" name="Google Shape;21;p14"/>
          <p:cNvSpPr txBox="1"/>
          <p:nvPr>
            <p:ph idx="12" type="sldNum"/>
          </p:nvPr>
        </p:nvSpPr>
        <p:spPr>
          <a:xfrm>
            <a:off x="8523550" y="4813799"/>
            <a:ext cx="548700" cy="27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14"/>
          <p:cNvSpPr txBox="1"/>
          <p:nvPr/>
        </p:nvSpPr>
        <p:spPr>
          <a:xfrm>
            <a:off x="471900" y="4803525"/>
            <a:ext cx="8133300" cy="296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Roboto"/>
                <a:ea typeface="Roboto"/>
                <a:cs typeface="Roboto"/>
                <a:sym typeface="Roboto"/>
              </a:rPr>
              <a:t>UIT.CS519.ResearchMethodology</a:t>
            </a:r>
            <a:endParaRPr b="1" i="0" sz="14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1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7" name="Google Shape;27;p15"/>
          <p:cNvSpPr txBox="1"/>
          <p:nvPr>
            <p:ph idx="1" type="body"/>
          </p:nvPr>
        </p:nvSpPr>
        <p:spPr>
          <a:xfrm>
            <a:off x="47190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15"/>
          <p:cNvSpPr txBox="1"/>
          <p:nvPr>
            <p:ph idx="2" type="body"/>
          </p:nvPr>
        </p:nvSpPr>
        <p:spPr>
          <a:xfrm>
            <a:off x="469425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1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1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6"/>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4" name="Google Shape;34;p1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1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7"/>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9" name="Google Shape;39;p17"/>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1600"/>
              </a:spcBef>
              <a:spcAft>
                <a:spcPts val="0"/>
              </a:spcAft>
              <a:buClr>
                <a:schemeClr val="lt1"/>
              </a:buClr>
              <a:buSzPts val="1200"/>
              <a:buChar char="○"/>
              <a:defRPr sz="1200">
                <a:solidFill>
                  <a:schemeClr val="lt1"/>
                </a:solidFill>
              </a:defRPr>
            </a:lvl2pPr>
            <a:lvl3pPr indent="-304800" lvl="2" marL="1371600" algn="l">
              <a:lnSpc>
                <a:spcPct val="115000"/>
              </a:lnSpc>
              <a:spcBef>
                <a:spcPts val="1600"/>
              </a:spcBef>
              <a:spcAft>
                <a:spcPts val="0"/>
              </a:spcAft>
              <a:buClr>
                <a:schemeClr val="lt1"/>
              </a:buClr>
              <a:buSzPts val="1200"/>
              <a:buChar char="■"/>
              <a:defRPr sz="1200">
                <a:solidFill>
                  <a:schemeClr val="lt1"/>
                </a:solidFill>
              </a:defRPr>
            </a:lvl3pPr>
            <a:lvl4pPr indent="-304800" lvl="3" marL="1828800" algn="l">
              <a:lnSpc>
                <a:spcPct val="115000"/>
              </a:lnSpc>
              <a:spcBef>
                <a:spcPts val="1600"/>
              </a:spcBef>
              <a:spcAft>
                <a:spcPts val="0"/>
              </a:spcAft>
              <a:buClr>
                <a:schemeClr val="lt1"/>
              </a:buClr>
              <a:buSzPts val="1200"/>
              <a:buChar char="●"/>
              <a:defRPr sz="1200">
                <a:solidFill>
                  <a:schemeClr val="lt1"/>
                </a:solidFill>
              </a:defRPr>
            </a:lvl4pPr>
            <a:lvl5pPr indent="-304800" lvl="4" marL="2286000" algn="l">
              <a:lnSpc>
                <a:spcPct val="115000"/>
              </a:lnSpc>
              <a:spcBef>
                <a:spcPts val="1600"/>
              </a:spcBef>
              <a:spcAft>
                <a:spcPts val="0"/>
              </a:spcAft>
              <a:buClr>
                <a:schemeClr val="lt1"/>
              </a:buClr>
              <a:buSzPts val="1200"/>
              <a:buChar char="○"/>
              <a:defRPr sz="1200">
                <a:solidFill>
                  <a:schemeClr val="lt1"/>
                </a:solidFill>
              </a:defRPr>
            </a:lvl5pPr>
            <a:lvl6pPr indent="-304800" lvl="5" marL="2743200" algn="l">
              <a:lnSpc>
                <a:spcPct val="115000"/>
              </a:lnSpc>
              <a:spcBef>
                <a:spcPts val="1600"/>
              </a:spcBef>
              <a:spcAft>
                <a:spcPts val="0"/>
              </a:spcAft>
              <a:buClr>
                <a:schemeClr val="lt1"/>
              </a:buClr>
              <a:buSzPts val="1200"/>
              <a:buChar char="■"/>
              <a:defRPr sz="1200">
                <a:solidFill>
                  <a:schemeClr val="lt1"/>
                </a:solidFill>
              </a:defRPr>
            </a:lvl6pPr>
            <a:lvl7pPr indent="-304800" lvl="6" marL="3200400" algn="l">
              <a:lnSpc>
                <a:spcPct val="115000"/>
              </a:lnSpc>
              <a:spcBef>
                <a:spcPts val="1600"/>
              </a:spcBef>
              <a:spcAft>
                <a:spcPts val="0"/>
              </a:spcAft>
              <a:buClr>
                <a:schemeClr val="lt1"/>
              </a:buClr>
              <a:buSzPts val="1200"/>
              <a:buChar char="●"/>
              <a:defRPr sz="1200">
                <a:solidFill>
                  <a:schemeClr val="lt1"/>
                </a:solidFill>
              </a:defRPr>
            </a:lvl7pPr>
            <a:lvl8pPr indent="-304800" lvl="7" marL="3657600" algn="l">
              <a:lnSpc>
                <a:spcPct val="115000"/>
              </a:lnSpc>
              <a:spcBef>
                <a:spcPts val="1600"/>
              </a:spcBef>
              <a:spcAft>
                <a:spcPts val="0"/>
              </a:spcAft>
              <a:buClr>
                <a:schemeClr val="lt1"/>
              </a:buClr>
              <a:buSzPts val="1200"/>
              <a:buChar char="○"/>
              <a:defRPr sz="1200">
                <a:solidFill>
                  <a:schemeClr val="lt1"/>
                </a:solidFill>
              </a:defRPr>
            </a:lvl8pPr>
            <a:lvl9pPr indent="-304800" lvl="8" marL="4114800" algn="l">
              <a:lnSpc>
                <a:spcPct val="115000"/>
              </a:lnSpc>
              <a:spcBef>
                <a:spcPts val="1600"/>
              </a:spcBef>
              <a:spcAft>
                <a:spcPts val="1600"/>
              </a:spcAft>
              <a:buClr>
                <a:schemeClr val="lt1"/>
              </a:buClr>
              <a:buSzPts val="1200"/>
              <a:buChar char="■"/>
              <a:defRPr sz="1200">
                <a:solidFill>
                  <a:schemeClr val="lt1"/>
                </a:solidFill>
              </a:defRPr>
            </a:lvl9pPr>
          </a:lstStyle>
          <a:p/>
        </p:txBody>
      </p:sp>
      <p:sp>
        <p:nvSpPr>
          <p:cNvPr id="40" name="Google Shape;40;p1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18"/>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43" name="Google Shape;43;p1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1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48" name="Google Shape;48;p19"/>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50" name="Google Shape;50;p1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2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0"/>
          <p:cNvSpPr txBox="1"/>
          <p:nvPr>
            <p:ph idx="1" type="body"/>
          </p:nvPr>
        </p:nvSpPr>
        <p:spPr>
          <a:xfrm>
            <a:off x="57150" y="4163425"/>
            <a:ext cx="8382000" cy="44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55" name="Google Shape;55;p2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6" name="Shape 56"/>
        <p:cNvGrpSpPr/>
        <p:nvPr/>
      </p:nvGrpSpPr>
      <p:grpSpPr>
        <a:xfrm>
          <a:off x="0" y="0"/>
          <a:ext cx="0" cy="0"/>
          <a:chOff x="0" y="0"/>
          <a:chExt cx="0" cy="0"/>
        </a:xfrm>
      </p:grpSpPr>
      <p:sp>
        <p:nvSpPr>
          <p:cNvPr id="57" name="Google Shape;57;p21"/>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58" name="Google Shape;58;p21"/>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9" name="Google Shape;59;p2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0" name="Shape 60"/>
        <p:cNvGrpSpPr/>
        <p:nvPr/>
      </p:nvGrpSpPr>
      <p:grpSpPr>
        <a:xfrm>
          <a:off x="0" y="0"/>
          <a:ext cx="0" cy="0"/>
          <a:chOff x="0" y="0"/>
          <a:chExt cx="0" cy="0"/>
        </a:xfrm>
      </p:grpSpPr>
      <p:sp>
        <p:nvSpPr>
          <p:cNvPr id="61" name="Google Shape;61;p2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7" name="Google Shape;7;p1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2"/>
              </a:buClr>
              <a:buSzPts val="1800"/>
              <a:buFont typeface="Roboto"/>
              <a:buChar char="●"/>
              <a:defRPr b="0" i="0" sz="1800" u="none" cap="none" strike="noStrike">
                <a:solidFill>
                  <a:schemeClr val="lt2"/>
                </a:solidFill>
                <a:latin typeface="Roboto"/>
                <a:ea typeface="Roboto"/>
                <a:cs typeface="Roboto"/>
                <a:sym typeface="Roboto"/>
              </a:defRPr>
            </a:lvl1pPr>
            <a:lvl2pPr indent="-317500" lvl="1" marL="914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2pPr>
            <a:lvl3pPr indent="-317500" lvl="2" marL="1371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3pPr>
            <a:lvl4pPr indent="-317500" lvl="3" marL="18288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4pPr>
            <a:lvl5pPr indent="-317500" lvl="4" marL="22860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5pPr>
            <a:lvl6pPr indent="-317500" lvl="5" marL="27432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6pPr>
            <a:lvl7pPr indent="-317500" lvl="6" marL="3200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7pPr>
            <a:lvl8pPr indent="-317500" lvl="7" marL="3657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8pPr>
            <a:lvl9pPr indent="-317500" lvl="8" marL="4114800" marR="0" rtl="0" algn="l">
              <a:lnSpc>
                <a:spcPct val="115000"/>
              </a:lnSpc>
              <a:spcBef>
                <a:spcPts val="1600"/>
              </a:spcBef>
              <a:spcAft>
                <a:spcPts val="1600"/>
              </a:spcAft>
              <a:buClr>
                <a:schemeClr val="lt2"/>
              </a:buClr>
              <a:buSzPts val="1400"/>
              <a:buFont typeface="Roboto"/>
              <a:buChar char="■"/>
              <a:defRPr b="0" i="0" sz="1400" u="none" cap="none" strike="noStrike">
                <a:solidFill>
                  <a:schemeClr val="lt2"/>
                </a:solidFill>
                <a:latin typeface="Roboto"/>
                <a:ea typeface="Roboto"/>
                <a:cs typeface="Roboto"/>
                <a:sym typeface="Roboto"/>
              </a:defRPr>
            </a:lvl9pPr>
          </a:lstStyle>
          <a:p/>
        </p:txBody>
      </p:sp>
      <p:sp>
        <p:nvSpPr>
          <p:cNvPr id="8" name="Google Shape;8;p1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ieee-dataport.org/open-access/malware-analysis-datasets-api-call-sequences" TargetMode="External"/><Relationship Id="rId4" Type="http://schemas.openxmlformats.org/officeDocument/2006/relationships/hyperlink" Target="https://github.com/drzehra14/Windows-PE-Malware-API-dataset/tree/mai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390525" y="747725"/>
            <a:ext cx="8222100" cy="1102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b="1" lang="en-US"/>
              <a:t>BÁO CÁO ĐỒ ÁN CUỐI KỲ</a:t>
            </a:r>
            <a:endParaRPr b="1"/>
          </a:p>
        </p:txBody>
      </p:sp>
      <p:sp>
        <p:nvSpPr>
          <p:cNvPr id="67" name="Google Shape;67;p1"/>
          <p:cNvSpPr txBox="1"/>
          <p:nvPr>
            <p:ph idx="1" type="subTitle"/>
          </p:nvPr>
        </p:nvSpPr>
        <p:spPr>
          <a:xfrm>
            <a:off x="390525" y="3772598"/>
            <a:ext cx="8222100" cy="644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b="1" lang="en-US" sz="2000"/>
              <a:t>Trường ĐH Công Nghệ Thông Tin, ĐHQG-HCM</a:t>
            </a:r>
            <a:r>
              <a:rPr lang="en-US" sz="2400"/>
              <a:t> </a:t>
            </a:r>
            <a:endParaRPr sz="2400"/>
          </a:p>
        </p:txBody>
      </p:sp>
      <p:pic>
        <p:nvPicPr>
          <p:cNvPr id="68" name="Google Shape;68;p1"/>
          <p:cNvPicPr preferRelativeResize="0"/>
          <p:nvPr/>
        </p:nvPicPr>
        <p:blipFill rotWithShape="1">
          <a:blip r:embed="rId3">
            <a:alphaModFix/>
          </a:blip>
          <a:srcRect b="0" l="0" r="0" t="0"/>
          <a:stretch/>
        </p:blipFill>
        <p:spPr>
          <a:xfrm>
            <a:off x="6925125" y="3079150"/>
            <a:ext cx="1771650" cy="1428750"/>
          </a:xfrm>
          <a:prstGeom prst="rect">
            <a:avLst/>
          </a:prstGeom>
          <a:noFill/>
          <a:ln>
            <a:noFill/>
          </a:ln>
        </p:spPr>
      </p:pic>
      <p:sp>
        <p:nvSpPr>
          <p:cNvPr id="69" name="Google Shape;69;p1"/>
          <p:cNvSpPr txBox="1"/>
          <p:nvPr>
            <p:ph type="ctrTitle"/>
          </p:nvPr>
        </p:nvSpPr>
        <p:spPr>
          <a:xfrm>
            <a:off x="390525" y="2285625"/>
            <a:ext cx="8306400" cy="1428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SzPts val="4800"/>
              <a:buNone/>
            </a:pPr>
            <a:r>
              <a:rPr b="1" lang="en-US" sz="2500"/>
              <a:t>Môn học: CƠ CHẾ HOẠT ĐỘNG MÃ ĐỘC NÂNG CAO</a:t>
            </a:r>
            <a:endParaRPr b="1" sz="2500"/>
          </a:p>
          <a:p>
            <a:pPr indent="0" lvl="0" marL="0" rtl="0" algn="l">
              <a:lnSpc>
                <a:spcPct val="150000"/>
              </a:lnSpc>
              <a:spcBef>
                <a:spcPts val="0"/>
              </a:spcBef>
              <a:spcAft>
                <a:spcPts val="0"/>
              </a:spcAft>
              <a:buSzPts val="4800"/>
              <a:buNone/>
            </a:pPr>
            <a:r>
              <a:rPr b="1" lang="en-US" sz="2500"/>
              <a:t>GV: TS. Phan Thế Duy</a:t>
            </a:r>
            <a:br>
              <a:rPr b="1" lang="en-US" sz="2500"/>
            </a:br>
            <a:r>
              <a:rPr b="1" lang="en-US" sz="2500"/>
              <a:t>Nhóm thực hiện: G04</a:t>
            </a:r>
            <a:endParaRPr b="1" sz="2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type="title"/>
          </p:nvPr>
        </p:nvSpPr>
        <p:spPr>
          <a:xfrm>
            <a:off x="460950" y="1019950"/>
            <a:ext cx="8222100" cy="101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b="1" lang="en-US"/>
              <a:t>Ứng dụng AI có khả năng giải thích (XAI) trong hệ thống phát hiện mã độc dựa trên hành vi</a:t>
            </a:r>
            <a:endParaRPr b="1"/>
          </a:p>
        </p:txBody>
      </p:sp>
      <p:sp>
        <p:nvSpPr>
          <p:cNvPr id="75" name="Google Shape;75;p2"/>
          <p:cNvSpPr txBox="1"/>
          <p:nvPr>
            <p:ph type="title"/>
          </p:nvPr>
        </p:nvSpPr>
        <p:spPr>
          <a:xfrm>
            <a:off x="640199" y="3347923"/>
            <a:ext cx="8222099" cy="1012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200"/>
              <a:buNone/>
            </a:pPr>
            <a:r>
              <a:rPr b="1" lang="en-US" sz="2400"/>
              <a:t>Tài liệu tham khảo: Galli, Antonio, et al. "Explainability in AI-based behavioral malware detection systems." Computers &amp; Security 141 (2024).</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471900" y="0"/>
            <a:ext cx="8222100" cy="686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Bối cảnh</a:t>
            </a:r>
            <a:endParaRPr/>
          </a:p>
        </p:txBody>
      </p:sp>
      <p:pic>
        <p:nvPicPr>
          <p:cNvPr id="81" name="Google Shape;81;p4"/>
          <p:cNvPicPr preferRelativeResize="0"/>
          <p:nvPr/>
        </p:nvPicPr>
        <p:blipFill>
          <a:blip r:embed="rId3">
            <a:alphaModFix/>
          </a:blip>
          <a:stretch>
            <a:fillRect/>
          </a:stretch>
        </p:blipFill>
        <p:spPr>
          <a:xfrm>
            <a:off x="2264138" y="668175"/>
            <a:ext cx="4730468" cy="4152300"/>
          </a:xfrm>
          <a:prstGeom prst="rect">
            <a:avLst/>
          </a:prstGeom>
          <a:noFill/>
          <a:ln>
            <a:noFill/>
          </a:ln>
        </p:spPr>
      </p:pic>
      <p:sp>
        <p:nvSpPr>
          <p:cNvPr id="82" name="Google Shape;82;p4"/>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Mục tiêu nghiên cứu</a:t>
            </a:r>
            <a:endParaRPr/>
          </a:p>
        </p:txBody>
      </p:sp>
      <p:sp>
        <p:nvSpPr>
          <p:cNvPr id="88" name="Google Shape;88;p5"/>
          <p:cNvSpPr txBox="1"/>
          <p:nvPr>
            <p:ph idx="1" type="body"/>
          </p:nvPr>
        </p:nvSpPr>
        <p:spPr>
          <a:xfrm>
            <a:off x="471900" y="820500"/>
            <a:ext cx="8222100" cy="3908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Font typeface="Arial"/>
              <a:buChar char="●"/>
            </a:pPr>
            <a:r>
              <a:rPr lang="en-US" sz="2400"/>
              <a:t>T</a:t>
            </a:r>
            <a:r>
              <a:rPr lang="en-US" sz="2400"/>
              <a:t>ích hợp </a:t>
            </a:r>
            <a:r>
              <a:rPr b="1" lang="en-US" sz="2400"/>
              <a:t>Explainable AI (XAI)</a:t>
            </a:r>
            <a:r>
              <a:rPr lang="en-US" sz="2400"/>
              <a:t> vào các hệ thống BMD nhằm nâng cao khả năng giải thích, độ minh bạch và hỗ trợ ra quyết định. </a:t>
            </a:r>
            <a:endParaRPr sz="2400"/>
          </a:p>
          <a:p>
            <a:pPr indent="-381000" lvl="0" marL="457200" rtl="0" algn="l">
              <a:lnSpc>
                <a:spcPct val="115000"/>
              </a:lnSpc>
              <a:spcBef>
                <a:spcPts val="0"/>
              </a:spcBef>
              <a:spcAft>
                <a:spcPts val="0"/>
              </a:spcAft>
              <a:buSzPts val="2400"/>
              <a:buFont typeface="Arial"/>
              <a:buChar char="●"/>
            </a:pPr>
            <a:r>
              <a:rPr lang="en-US" sz="2400"/>
              <a:t>Nghiên cứu so sánh các phương pháp XAI phổ biến như </a:t>
            </a:r>
            <a:r>
              <a:rPr b="1" lang="en-US" sz="2400"/>
              <a:t>LRP, SHAP và LIME</a:t>
            </a:r>
            <a:r>
              <a:rPr lang="en-US" sz="2400"/>
              <a:t>, đánh giá hiệu năng, độ ổn định và tính ứng dụng thực tế trong môi trường SOC.</a:t>
            </a:r>
            <a:endParaRPr sz="2400"/>
          </a:p>
          <a:p>
            <a:pPr indent="0" lvl="0" marL="457200" rtl="0" algn="l">
              <a:lnSpc>
                <a:spcPct val="115000"/>
              </a:lnSpc>
              <a:spcBef>
                <a:spcPts val="0"/>
              </a:spcBef>
              <a:spcAft>
                <a:spcPts val="0"/>
              </a:spcAft>
              <a:buNone/>
            </a:pPr>
            <a:r>
              <a:t/>
            </a:r>
            <a:endParaRPr/>
          </a:p>
          <a:p>
            <a:pPr indent="0" lvl="0" marL="457200" rtl="0" algn="l">
              <a:lnSpc>
                <a:spcPct val="115000"/>
              </a:lnSpc>
              <a:spcBef>
                <a:spcPts val="1600"/>
              </a:spcBef>
              <a:spcAft>
                <a:spcPts val="0"/>
              </a:spcAft>
              <a:buSzPts val="2200"/>
              <a:buNone/>
            </a:pPr>
            <a:r>
              <a:t/>
            </a:r>
            <a:endParaRPr/>
          </a:p>
          <a:p>
            <a:pPr indent="0" lvl="0" marL="457200" rtl="0" algn="l">
              <a:lnSpc>
                <a:spcPct val="115000"/>
              </a:lnSpc>
              <a:spcBef>
                <a:spcPts val="1600"/>
              </a:spcBef>
              <a:spcAft>
                <a:spcPts val="0"/>
              </a:spcAft>
              <a:buSzPts val="2200"/>
              <a:buNone/>
            </a:pPr>
            <a:r>
              <a:t/>
            </a:r>
            <a:endParaRPr/>
          </a:p>
          <a:p>
            <a:pPr indent="0" lvl="0" marL="457200" rtl="0" algn="l">
              <a:lnSpc>
                <a:spcPct val="115000"/>
              </a:lnSpc>
              <a:spcBef>
                <a:spcPts val="1600"/>
              </a:spcBef>
              <a:spcAft>
                <a:spcPts val="0"/>
              </a:spcAft>
              <a:buSzPts val="2200"/>
              <a:buNone/>
            </a:pPr>
            <a:r>
              <a:t/>
            </a:r>
            <a:endParaRPr/>
          </a:p>
          <a:p>
            <a:pPr indent="0" lvl="0" marL="914400" rtl="0" algn="l">
              <a:lnSpc>
                <a:spcPct val="115000"/>
              </a:lnSpc>
              <a:spcBef>
                <a:spcPts val="1600"/>
              </a:spcBef>
              <a:spcAft>
                <a:spcPts val="1600"/>
              </a:spcAft>
              <a:buSzPts val="2200"/>
              <a:buNone/>
            </a:pPr>
            <a:r>
              <a:t/>
            </a:r>
            <a:endParaRPr sz="1800"/>
          </a:p>
        </p:txBody>
      </p:sp>
      <p:sp>
        <p:nvSpPr>
          <p:cNvPr id="89" name="Google Shape;89;p5"/>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de3356221a_0_35"/>
          <p:cNvSpPr txBox="1"/>
          <p:nvPr>
            <p:ph type="title"/>
          </p:nvPr>
        </p:nvSpPr>
        <p:spPr>
          <a:xfrm>
            <a:off x="460950" y="382825"/>
            <a:ext cx="8222100" cy="67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3200"/>
              <a:buFont typeface="Arial"/>
              <a:buNone/>
            </a:pPr>
            <a:r>
              <a:rPr b="1" lang="en-US"/>
              <a:t>Nội dung phương pháp</a:t>
            </a:r>
            <a:endParaRPr/>
          </a:p>
          <a:p>
            <a:pPr indent="0" lvl="0" marL="0" rtl="0" algn="l">
              <a:spcBef>
                <a:spcPts val="0"/>
              </a:spcBef>
              <a:spcAft>
                <a:spcPts val="0"/>
              </a:spcAft>
              <a:buNone/>
            </a:pPr>
            <a:r>
              <a:t/>
            </a:r>
            <a:endParaRPr/>
          </a:p>
        </p:txBody>
      </p:sp>
      <p:sp>
        <p:nvSpPr>
          <p:cNvPr id="95" name="Google Shape;95;g3de3356221a_0_35"/>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96" name="Google Shape;96;g3de3356221a_0_35"/>
          <p:cNvPicPr preferRelativeResize="0"/>
          <p:nvPr/>
        </p:nvPicPr>
        <p:blipFill>
          <a:blip r:embed="rId3">
            <a:alphaModFix/>
          </a:blip>
          <a:stretch>
            <a:fillRect/>
          </a:stretch>
        </p:blipFill>
        <p:spPr>
          <a:xfrm>
            <a:off x="0" y="1605956"/>
            <a:ext cx="9143999" cy="2135887"/>
          </a:xfrm>
          <a:prstGeom prst="rect">
            <a:avLst/>
          </a:prstGeom>
          <a:noFill/>
          <a:ln>
            <a:noFill/>
          </a:ln>
        </p:spPr>
      </p:pic>
      <p:sp>
        <p:nvSpPr>
          <p:cNvPr id="97" name="Google Shape;97;g3de3356221a_0_35"/>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Nội dung và phương pháp</a:t>
            </a:r>
            <a:endParaRPr/>
          </a:p>
        </p:txBody>
      </p:sp>
      <p:sp>
        <p:nvSpPr>
          <p:cNvPr id="103" name="Google Shape;103;p7"/>
          <p:cNvSpPr txBox="1"/>
          <p:nvPr>
            <p:ph idx="1" type="body"/>
          </p:nvPr>
        </p:nvSpPr>
        <p:spPr>
          <a:xfrm>
            <a:off x="471900" y="857650"/>
            <a:ext cx="8222100" cy="39084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US" sz="2000"/>
              <a:t>Explainable AI (XAI)</a:t>
            </a:r>
            <a:endParaRPr b="1" sz="2000"/>
          </a:p>
          <a:p>
            <a:pPr indent="0" lvl="0" marL="0" rtl="0" algn="l">
              <a:spcBef>
                <a:spcPts val="1200"/>
              </a:spcBef>
              <a:spcAft>
                <a:spcPts val="0"/>
              </a:spcAft>
              <a:buNone/>
            </a:pPr>
            <a:r>
              <a:rPr lang="en-US" sz="2000"/>
              <a:t>XAI giúp:</a:t>
            </a:r>
            <a:endParaRPr sz="2000"/>
          </a:p>
          <a:p>
            <a:pPr indent="-355600" lvl="0" marL="457200" rtl="0" algn="l">
              <a:spcBef>
                <a:spcPts val="1200"/>
              </a:spcBef>
              <a:spcAft>
                <a:spcPts val="0"/>
              </a:spcAft>
              <a:buSzPts val="2000"/>
              <a:buFont typeface="Roboto"/>
              <a:buChar char="●"/>
            </a:pPr>
            <a:r>
              <a:rPr lang="en-US" sz="2000"/>
              <a:t>Giải thích quyết định của mô hình</a:t>
            </a:r>
            <a:endParaRPr sz="2000"/>
          </a:p>
          <a:p>
            <a:pPr indent="-355600" lvl="0" marL="457200" rtl="0" algn="l">
              <a:spcBef>
                <a:spcPts val="0"/>
              </a:spcBef>
              <a:spcAft>
                <a:spcPts val="0"/>
              </a:spcAft>
              <a:buSzPts val="2000"/>
              <a:buFont typeface="Roboto"/>
              <a:buChar char="●"/>
            </a:pPr>
            <a:r>
              <a:rPr lang="en-US" sz="2000"/>
              <a:t>Tăng độ tin cậy</a:t>
            </a:r>
            <a:endParaRPr sz="2000"/>
          </a:p>
          <a:p>
            <a:pPr indent="-355600" lvl="0" marL="457200" rtl="0" algn="l">
              <a:spcBef>
                <a:spcPts val="0"/>
              </a:spcBef>
              <a:spcAft>
                <a:spcPts val="0"/>
              </a:spcAft>
              <a:buSzPts val="2000"/>
              <a:buFont typeface="Roboto"/>
              <a:buChar char="●"/>
            </a:pPr>
            <a:r>
              <a:rPr lang="en-US" sz="2000"/>
              <a:t>Hỗ trợ điều tra pháp chứng</a:t>
            </a:r>
            <a:endParaRPr sz="2000"/>
          </a:p>
          <a:p>
            <a:pPr indent="0" lvl="0" marL="0" rtl="0" algn="l">
              <a:spcBef>
                <a:spcPts val="1200"/>
              </a:spcBef>
              <a:spcAft>
                <a:spcPts val="0"/>
              </a:spcAft>
              <a:buNone/>
            </a:pPr>
            <a:r>
              <a:rPr lang="en-US" sz="2000"/>
              <a:t>Các phương pháp chính:</a:t>
            </a:r>
            <a:endParaRPr sz="2000"/>
          </a:p>
          <a:p>
            <a:pPr indent="-355600" lvl="0" marL="457200" rtl="0" algn="l">
              <a:spcBef>
                <a:spcPts val="1200"/>
              </a:spcBef>
              <a:spcAft>
                <a:spcPts val="0"/>
              </a:spcAft>
              <a:buSzPts val="2000"/>
              <a:buFont typeface="Roboto"/>
              <a:buChar char="●"/>
            </a:pPr>
            <a:r>
              <a:rPr lang="en-US" sz="2000"/>
              <a:t>LRP (Layer-wise Relevance Propagation)</a:t>
            </a:r>
            <a:endParaRPr sz="2000"/>
          </a:p>
          <a:p>
            <a:pPr indent="-355600" lvl="0" marL="457200" rtl="0" algn="l">
              <a:spcBef>
                <a:spcPts val="0"/>
              </a:spcBef>
              <a:spcAft>
                <a:spcPts val="0"/>
              </a:spcAft>
              <a:buSzPts val="2000"/>
              <a:buFont typeface="Roboto"/>
              <a:buChar char="●"/>
            </a:pPr>
            <a:r>
              <a:rPr lang="en-US" sz="2000"/>
              <a:t>SHAP (Shapley Additive Explanations)</a:t>
            </a:r>
            <a:endParaRPr sz="2000"/>
          </a:p>
          <a:p>
            <a:pPr indent="-355600" lvl="0" marL="457200" rtl="0" algn="l">
              <a:spcBef>
                <a:spcPts val="0"/>
              </a:spcBef>
              <a:spcAft>
                <a:spcPts val="0"/>
              </a:spcAft>
              <a:buSzPts val="2000"/>
              <a:buFont typeface="Roboto"/>
              <a:buChar char="●"/>
            </a:pPr>
            <a:r>
              <a:rPr lang="en-US" sz="2000"/>
              <a:t>LIME (Local Interpretable Model-agnostic Explanations) </a:t>
            </a:r>
            <a:endParaRPr sz="2000"/>
          </a:p>
          <a:p>
            <a:pPr indent="0" lvl="0" marL="0" rtl="0" algn="l">
              <a:lnSpc>
                <a:spcPct val="115000"/>
              </a:lnSpc>
              <a:spcBef>
                <a:spcPts val="1600"/>
              </a:spcBef>
              <a:spcAft>
                <a:spcPts val="1600"/>
              </a:spcAft>
              <a:buSzPts val="2200"/>
              <a:buNone/>
            </a:pPr>
            <a:r>
              <a:t/>
            </a:r>
            <a:endParaRPr sz="2000"/>
          </a:p>
        </p:txBody>
      </p:sp>
      <p:sp>
        <p:nvSpPr>
          <p:cNvPr id="104" name="Google Shape;104;p7"/>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de3356221a_9_76"/>
          <p:cNvSpPr txBox="1"/>
          <p:nvPr>
            <p:ph type="title"/>
          </p:nvPr>
        </p:nvSpPr>
        <p:spPr>
          <a:xfrm>
            <a:off x="460950" y="2079420"/>
            <a:ext cx="8222100" cy="101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b="1" lang="en-US"/>
              <a:t>ĐỀ XUẤT PHÁT TRIỂN</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Đề Xuất</a:t>
            </a:r>
            <a:endParaRPr/>
          </a:p>
        </p:txBody>
      </p:sp>
      <p:sp>
        <p:nvSpPr>
          <p:cNvPr id="115" name="Google Shape;115;p8"/>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6" name="Google Shape;116;p8"/>
          <p:cNvSpPr txBox="1"/>
          <p:nvPr/>
        </p:nvSpPr>
        <p:spPr>
          <a:xfrm>
            <a:off x="278550" y="1148700"/>
            <a:ext cx="6136800" cy="284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800"/>
              <a:t>Định nghĩa Keras/TensorFlow Layer:</a:t>
            </a:r>
            <a:endParaRPr b="1" sz="1800"/>
          </a:p>
          <a:p>
            <a:pPr indent="-342900" lvl="0" marL="457200" rtl="0" algn="l">
              <a:lnSpc>
                <a:spcPct val="115000"/>
              </a:lnSpc>
              <a:spcBef>
                <a:spcPts val="1200"/>
              </a:spcBef>
              <a:spcAft>
                <a:spcPts val="0"/>
              </a:spcAft>
              <a:buSzPts val="1800"/>
              <a:buChar char="●"/>
            </a:pPr>
            <a:r>
              <a:rPr lang="en-US" sz="1800"/>
              <a:t>Thay thế LSTM đơn hướng bằng lớp </a:t>
            </a:r>
            <a:r>
              <a:rPr b="1" lang="en-US" sz="1800"/>
              <a:t>Bidirectional LSTM (BiLSTM)</a:t>
            </a:r>
            <a:r>
              <a:rPr lang="en-US" sz="1800"/>
              <a:t>.</a:t>
            </a:r>
            <a:endParaRPr sz="1800"/>
          </a:p>
          <a:p>
            <a:pPr indent="-342900" lvl="0" marL="457200" rtl="0" algn="l">
              <a:lnSpc>
                <a:spcPct val="115000"/>
              </a:lnSpc>
              <a:spcBef>
                <a:spcPts val="0"/>
              </a:spcBef>
              <a:spcAft>
                <a:spcPts val="0"/>
              </a:spcAft>
              <a:buSzPts val="1800"/>
              <a:buChar char="●"/>
            </a:pPr>
            <a:r>
              <a:rPr lang="en-US" sz="1800"/>
              <a:t>Tích hợp và cấu hình cơ chế </a:t>
            </a:r>
            <a:r>
              <a:rPr b="1" lang="en-US" sz="1800"/>
              <a:t>Multi-Head Attention (4 Heads)</a:t>
            </a:r>
            <a:r>
              <a:rPr lang="en-US" sz="1800"/>
              <a:t>.</a:t>
            </a:r>
            <a:endParaRPr sz="1800"/>
          </a:p>
          <a:p>
            <a:pPr indent="-342900" lvl="0" marL="457200" rtl="0" algn="l">
              <a:lnSpc>
                <a:spcPct val="115000"/>
              </a:lnSpc>
              <a:spcBef>
                <a:spcPts val="0"/>
              </a:spcBef>
              <a:spcAft>
                <a:spcPts val="0"/>
              </a:spcAft>
              <a:buSzPts val="1800"/>
              <a:buChar char="●"/>
            </a:pPr>
            <a:r>
              <a:rPr lang="en-US" sz="1800"/>
              <a:t>Tự động điều chỉnh kích thước Tensor (Tensor shaping) để nối đầu ra của BiLSTM với Attention layer trước khi đưa vào lớp phân loại Softmax.</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de3356221a_9_54"/>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a:t>
            </a:r>
            <a:r>
              <a:rPr b="1" lang="en-US"/>
              <a:t>Xử lý dữ liệu</a:t>
            </a:r>
            <a:endParaRPr/>
          </a:p>
        </p:txBody>
      </p:sp>
      <p:sp>
        <p:nvSpPr>
          <p:cNvPr id="122" name="Google Shape;122;g3de3356221a_9_54"/>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3" name="Google Shape;123;g3de3356221a_9_54"/>
          <p:cNvSpPr txBox="1"/>
          <p:nvPr/>
        </p:nvSpPr>
        <p:spPr>
          <a:xfrm>
            <a:off x="278550" y="1148700"/>
            <a:ext cx="8606400" cy="339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US" sz="1350">
                <a:solidFill>
                  <a:srgbClr val="1F1F1F"/>
                </a:solidFill>
                <a:highlight>
                  <a:srgbClr val="F9F9F9"/>
                </a:highlight>
              </a:rPr>
              <a:t>Đa định dạng (Multi-format Input):</a:t>
            </a:r>
            <a:endParaRPr sz="1350">
              <a:solidFill>
                <a:srgbClr val="1F1F1F"/>
              </a:solidFill>
              <a:highlight>
                <a:srgbClr val="F9F9F9"/>
              </a:highlight>
            </a:endParaRPr>
          </a:p>
          <a:p>
            <a:pPr indent="-314325" lvl="1" marL="914400" rtl="0" algn="l">
              <a:lnSpc>
                <a:spcPct val="115000"/>
              </a:lnSpc>
              <a:spcBef>
                <a:spcPts val="1200"/>
              </a:spcBef>
              <a:spcAft>
                <a:spcPts val="0"/>
              </a:spcAft>
              <a:buClr>
                <a:srgbClr val="1F1F1F"/>
              </a:buClr>
              <a:buSzPts val="1350"/>
              <a:buChar char="●"/>
            </a:pPr>
            <a:r>
              <a:rPr lang="en-US" sz="1350">
                <a:solidFill>
                  <a:srgbClr val="1F1F1F"/>
                </a:solidFill>
                <a:highlight>
                  <a:srgbClr val="F9F9F9"/>
                </a:highlight>
              </a:rPr>
              <a:t>Sequential Dataset (DS1): Xử lý chuỗi API call (t0 -&gt; t9) từ IEEE Dataport.</a:t>
            </a:r>
            <a:endParaRPr sz="1350">
              <a:solidFill>
                <a:srgbClr val="1F1F1F"/>
              </a:solidFill>
              <a:highlight>
                <a:srgbClr val="F9F9F9"/>
              </a:highlight>
            </a:endParaRPr>
          </a:p>
          <a:p>
            <a:pPr indent="-314325" lvl="1" marL="914400" rtl="0" algn="l">
              <a:lnSpc>
                <a:spcPct val="115000"/>
              </a:lnSpc>
              <a:spcBef>
                <a:spcPts val="0"/>
              </a:spcBef>
              <a:spcAft>
                <a:spcPts val="0"/>
              </a:spcAft>
              <a:buClr>
                <a:srgbClr val="1F1F1F"/>
              </a:buClr>
              <a:buSzPts val="1350"/>
              <a:buChar char="●"/>
            </a:pPr>
            <a:r>
              <a:rPr lang="en-US" sz="1350">
                <a:solidFill>
                  <a:srgbClr val="1F1F1F"/>
                </a:solidFill>
                <a:highlight>
                  <a:srgbClr val="F9F9F9"/>
                </a:highlight>
              </a:rPr>
              <a:t>Frequency Dataset (DS2): Chuyển đổi ma trận tần suất thành chuỗi bằng kỹ thuật Log-scaling (giúp nén độ dài nhưng vẫn giữ được đặc trưng hành vi).</a:t>
            </a:r>
            <a:endParaRPr sz="1350">
              <a:solidFill>
                <a:srgbClr val="1F1F1F"/>
              </a:solidFill>
              <a:highlight>
                <a:srgbClr val="F9F9F9"/>
              </a:highlight>
            </a:endParaRPr>
          </a:p>
          <a:p>
            <a:pPr indent="0" lvl="0" marL="0" rtl="0" algn="l">
              <a:lnSpc>
                <a:spcPct val="115000"/>
              </a:lnSpc>
              <a:spcBef>
                <a:spcPts val="1200"/>
              </a:spcBef>
              <a:spcAft>
                <a:spcPts val="0"/>
              </a:spcAft>
              <a:buNone/>
            </a:pPr>
            <a:r>
              <a:rPr lang="en-US" sz="1350">
                <a:solidFill>
                  <a:srgbClr val="1F1F1F"/>
                </a:solidFill>
                <a:highlight>
                  <a:srgbClr val="F9F9F9"/>
                </a:highlight>
              </a:rPr>
              <a:t>Kỹ thuật Clean-up:</a:t>
            </a:r>
            <a:endParaRPr sz="1350">
              <a:solidFill>
                <a:srgbClr val="1F1F1F"/>
              </a:solidFill>
              <a:highlight>
                <a:srgbClr val="F9F9F9"/>
              </a:highlight>
            </a:endParaRPr>
          </a:p>
          <a:p>
            <a:pPr indent="-314325" lvl="1" marL="914400" rtl="0" algn="l">
              <a:lnSpc>
                <a:spcPct val="115000"/>
              </a:lnSpc>
              <a:spcBef>
                <a:spcPts val="1200"/>
              </a:spcBef>
              <a:spcAft>
                <a:spcPts val="0"/>
              </a:spcAft>
              <a:buClr>
                <a:srgbClr val="1F1F1F"/>
              </a:buClr>
              <a:buSzPts val="1350"/>
              <a:buChar char="●"/>
            </a:pPr>
            <a:r>
              <a:rPr lang="en-US" sz="1350">
                <a:solidFill>
                  <a:srgbClr val="1F1F1F"/>
                </a:solidFill>
                <a:highlight>
                  <a:srgbClr val="F9F9F9"/>
                </a:highlight>
              </a:rPr>
              <a:t>Consecutive Deduplication: Loại bỏ các lệnh API trùng lặp liên tiếp (theo Section 4.2.1 của Galli et al. 2024) để giảm nhiễu và tập trung vào sự chuyển đổi trạng thái.</a:t>
            </a:r>
            <a:endParaRPr sz="1350">
              <a:solidFill>
                <a:srgbClr val="1F1F1F"/>
              </a:solidFill>
              <a:highlight>
                <a:srgbClr val="F9F9F9"/>
              </a:highlight>
            </a:endParaRPr>
          </a:p>
          <a:p>
            <a:pPr indent="-314325" lvl="1" marL="914400" rtl="0" algn="l">
              <a:lnSpc>
                <a:spcPct val="115000"/>
              </a:lnSpc>
              <a:spcBef>
                <a:spcPts val="0"/>
              </a:spcBef>
              <a:spcAft>
                <a:spcPts val="0"/>
              </a:spcAft>
              <a:buClr>
                <a:srgbClr val="1F1F1F"/>
              </a:buClr>
              <a:buSzPts val="1350"/>
              <a:buChar char="●"/>
            </a:pPr>
            <a:r>
              <a:rPr lang="en-US" sz="1350">
                <a:solidFill>
                  <a:srgbClr val="1F1F1F"/>
                </a:solidFill>
                <a:highlight>
                  <a:srgbClr val="F9F9F9"/>
                </a:highlight>
              </a:rPr>
              <a:t>Head-Truncation &amp; Pre-Padding: Đảm bảo độ dài chuẩn 100-step, ưu tiên giữ lại các hành vi cuối cùng (thường là lúc mã độc thực thi hành động phá hoại).</a:t>
            </a:r>
            <a:endParaRPr sz="1350">
              <a:solidFill>
                <a:srgbClr val="1F1F1F"/>
              </a:solidFill>
              <a:highlight>
                <a:srgbClr val="F9F9F9"/>
              </a:highlight>
            </a:endParaRPr>
          </a:p>
          <a:p>
            <a:pPr indent="0" lvl="0" marL="0" rtl="0" algn="l">
              <a:lnSpc>
                <a:spcPct val="115000"/>
              </a:lnSpc>
              <a:spcBef>
                <a:spcPts val="1200"/>
              </a:spcBef>
              <a:spcAft>
                <a:spcPts val="600"/>
              </a:spcAft>
              <a:buNone/>
            </a:pPr>
            <a:r>
              <a:rPr lang="en-US" sz="1350">
                <a:solidFill>
                  <a:srgbClr val="1F1F1F"/>
                </a:solidFill>
                <a:highlight>
                  <a:srgbClr val="F9F9F9"/>
                </a:highlight>
              </a:rPr>
              <a:t>Sử dụng </a:t>
            </a:r>
            <a:r>
              <a:rPr lang="en-US" sz="1350">
                <a:solidFill>
                  <a:srgbClr val="1F1F1F"/>
                </a:solidFill>
                <a:highlight>
                  <a:srgbClr val="F9F9F9"/>
                </a:highlight>
              </a:rPr>
              <a:t>Class Weights: Sử dụng </a:t>
            </a:r>
            <a:r>
              <a:rPr lang="en-US" sz="1250">
                <a:solidFill>
                  <a:srgbClr val="1F1F1F"/>
                </a:solidFill>
                <a:highlight>
                  <a:srgbClr val="F9F9F9"/>
                </a:highlight>
              </a:rPr>
              <a:t>compute_class_weight</a:t>
            </a:r>
            <a:r>
              <a:rPr lang="en-US" sz="1350">
                <a:solidFill>
                  <a:srgbClr val="1F1F1F"/>
                </a:solidFill>
                <a:highlight>
                  <a:srgbClr val="F9F9F9"/>
                </a:highlight>
              </a:rPr>
              <a:t> để xử lý mất cân bằng dữ liệu (40 Malware : 1 Goodware)</a:t>
            </a:r>
            <a:endParaRPr sz="2100">
              <a:solidFill>
                <a:srgbClr val="1F1F1F"/>
              </a:solidFill>
              <a:highlight>
                <a:srgbClr val="F9F9F9"/>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de3356221a_9_60"/>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Kỹ thuật</a:t>
            </a:r>
            <a:endParaRPr/>
          </a:p>
        </p:txBody>
      </p:sp>
      <p:sp>
        <p:nvSpPr>
          <p:cNvPr id="129" name="Google Shape;129;g3de3356221a_9_60"/>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0" name="Google Shape;130;g3de3356221a_9_60"/>
          <p:cNvSpPr txBox="1"/>
          <p:nvPr/>
        </p:nvSpPr>
        <p:spPr>
          <a:xfrm>
            <a:off x="278550" y="1148700"/>
            <a:ext cx="8606400" cy="38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US" sz="1300">
                <a:solidFill>
                  <a:srgbClr val="1F1F1F"/>
                </a:solidFill>
                <a:highlight>
                  <a:srgbClr val="F9F9F9"/>
                </a:highlight>
              </a:rPr>
              <a:t>Bi-directional LSTM (BiLSTM):</a:t>
            </a:r>
            <a:endParaRPr sz="1300">
              <a:solidFill>
                <a:srgbClr val="1F1F1F"/>
              </a:solidFill>
              <a:highlight>
                <a:srgbClr val="F9F9F9"/>
              </a:highlight>
            </a:endParaRPr>
          </a:p>
          <a:p>
            <a:pPr indent="-311150" lvl="1" marL="914400" rtl="0" algn="l">
              <a:lnSpc>
                <a:spcPct val="115000"/>
              </a:lnSpc>
              <a:spcBef>
                <a:spcPts val="1200"/>
              </a:spcBef>
              <a:spcAft>
                <a:spcPts val="0"/>
              </a:spcAft>
              <a:buClr>
                <a:srgbClr val="1F1F1F"/>
              </a:buClr>
              <a:buSzPts val="1300"/>
              <a:buChar char="●"/>
            </a:pPr>
            <a:r>
              <a:rPr lang="en-US" sz="1300">
                <a:solidFill>
                  <a:srgbClr val="1F1F1F"/>
                </a:solidFill>
                <a:highlight>
                  <a:srgbClr val="F9F9F9"/>
                </a:highlight>
              </a:rPr>
              <a:t>Thay đổi từ LSTM đơn hướng sang song hướng.</a:t>
            </a:r>
            <a:endParaRPr sz="1300">
              <a:solidFill>
                <a:srgbClr val="1F1F1F"/>
              </a:solidFill>
              <a:highlight>
                <a:srgbClr val="F9F9F9"/>
              </a:highlight>
            </a:endParaRPr>
          </a:p>
          <a:p>
            <a:pPr indent="-311150" lvl="1" marL="914400" rtl="0" algn="l">
              <a:lnSpc>
                <a:spcPct val="115000"/>
              </a:lnSpc>
              <a:spcBef>
                <a:spcPts val="0"/>
              </a:spcBef>
              <a:spcAft>
                <a:spcPts val="0"/>
              </a:spcAft>
              <a:buClr>
                <a:srgbClr val="1F1F1F"/>
              </a:buClr>
              <a:buSzPts val="1300"/>
              <a:buChar char="●"/>
            </a:pPr>
            <a:r>
              <a:rPr lang="en-US" sz="1300">
                <a:solidFill>
                  <a:srgbClr val="1F1F1F"/>
                </a:solidFill>
                <a:highlight>
                  <a:srgbClr val="F9F9F9"/>
                </a:highlight>
              </a:rPr>
              <a:t>Dung lượng: 128 units.</a:t>
            </a:r>
            <a:endParaRPr sz="1300">
              <a:solidFill>
                <a:srgbClr val="1F1F1F"/>
              </a:solidFill>
              <a:highlight>
                <a:srgbClr val="F9F9F9"/>
              </a:highlight>
            </a:endParaRPr>
          </a:p>
          <a:p>
            <a:pPr indent="-311150" lvl="1" marL="914400" rtl="0" algn="l">
              <a:lnSpc>
                <a:spcPct val="115000"/>
              </a:lnSpc>
              <a:spcBef>
                <a:spcPts val="0"/>
              </a:spcBef>
              <a:spcAft>
                <a:spcPts val="0"/>
              </a:spcAft>
              <a:buClr>
                <a:srgbClr val="1F1F1F"/>
              </a:buClr>
              <a:buSzPts val="1300"/>
              <a:buChar char="●"/>
            </a:pPr>
            <a:r>
              <a:rPr lang="en-US" sz="1300">
                <a:solidFill>
                  <a:srgbClr val="1F1F1F"/>
                </a:solidFill>
                <a:highlight>
                  <a:srgbClr val="F9F9F9"/>
                </a:highlight>
              </a:rPr>
              <a:t>Lợi ích: Học được mối quan hệ của các lệnh API theo cả chiều xuôi (forward) và ngược (backward).</a:t>
            </a:r>
            <a:endParaRPr sz="1300">
              <a:solidFill>
                <a:srgbClr val="1F1F1F"/>
              </a:solidFill>
              <a:highlight>
                <a:srgbClr val="F9F9F9"/>
              </a:highlight>
            </a:endParaRPr>
          </a:p>
          <a:p>
            <a:pPr indent="0" lvl="0" marL="0" rtl="0" algn="l">
              <a:lnSpc>
                <a:spcPct val="115000"/>
              </a:lnSpc>
              <a:spcBef>
                <a:spcPts val="1200"/>
              </a:spcBef>
              <a:spcAft>
                <a:spcPts val="0"/>
              </a:spcAft>
              <a:buNone/>
            </a:pPr>
            <a:r>
              <a:rPr lang="en-US" sz="1300">
                <a:solidFill>
                  <a:srgbClr val="1F1F1F"/>
                </a:solidFill>
                <a:highlight>
                  <a:srgbClr val="F9F9F9"/>
                </a:highlight>
              </a:rPr>
              <a:t>Multi-Head Self-Attention (MHA):</a:t>
            </a:r>
            <a:endParaRPr sz="1300">
              <a:solidFill>
                <a:srgbClr val="1F1F1F"/>
              </a:solidFill>
              <a:highlight>
                <a:srgbClr val="F9F9F9"/>
              </a:highlight>
            </a:endParaRPr>
          </a:p>
          <a:p>
            <a:pPr indent="-311150" lvl="1" marL="914400" rtl="0" algn="l">
              <a:lnSpc>
                <a:spcPct val="115000"/>
              </a:lnSpc>
              <a:spcBef>
                <a:spcPts val="1200"/>
              </a:spcBef>
              <a:spcAft>
                <a:spcPts val="0"/>
              </a:spcAft>
              <a:buClr>
                <a:srgbClr val="1F1F1F"/>
              </a:buClr>
              <a:buSzPts val="1300"/>
              <a:buChar char="●"/>
            </a:pPr>
            <a:r>
              <a:rPr lang="en-US" sz="1300">
                <a:solidFill>
                  <a:srgbClr val="1F1F1F"/>
                </a:solidFill>
                <a:highlight>
                  <a:srgbClr val="F9F9F9"/>
                </a:highlight>
              </a:rPr>
              <a:t>Cấu hình: 4 heads, key_dim=32.</a:t>
            </a:r>
            <a:endParaRPr sz="1300">
              <a:solidFill>
                <a:srgbClr val="1F1F1F"/>
              </a:solidFill>
              <a:highlight>
                <a:srgbClr val="F9F9F9"/>
              </a:highlight>
            </a:endParaRPr>
          </a:p>
          <a:p>
            <a:pPr indent="-311150" lvl="1" marL="914400" rtl="0" algn="l">
              <a:lnSpc>
                <a:spcPct val="115000"/>
              </a:lnSpc>
              <a:spcBef>
                <a:spcPts val="0"/>
              </a:spcBef>
              <a:spcAft>
                <a:spcPts val="0"/>
              </a:spcAft>
              <a:buClr>
                <a:srgbClr val="1F1F1F"/>
              </a:buClr>
              <a:buSzPts val="1300"/>
              <a:buChar char="●"/>
            </a:pPr>
            <a:r>
              <a:rPr lang="en-US" sz="1300">
                <a:solidFill>
                  <a:srgbClr val="1F1F1F"/>
                </a:solidFill>
                <a:highlight>
                  <a:srgbClr val="F9F9F9"/>
                </a:highlight>
              </a:rPr>
              <a:t>Cơ chế: Cho phép mô hình tập trung vào nhiều đoạn hành vi quan trọng ở các vị trí khác nhau trong chuỗi cùng một lúc (parallel feature extraction).</a:t>
            </a:r>
            <a:endParaRPr sz="1300">
              <a:solidFill>
                <a:srgbClr val="1F1F1F"/>
              </a:solidFill>
              <a:highlight>
                <a:srgbClr val="F9F9F9"/>
              </a:highlight>
            </a:endParaRPr>
          </a:p>
          <a:p>
            <a:pPr indent="0" lvl="0" marL="0" rtl="0" algn="l">
              <a:lnSpc>
                <a:spcPct val="115000"/>
              </a:lnSpc>
              <a:spcBef>
                <a:spcPts val="1200"/>
              </a:spcBef>
              <a:spcAft>
                <a:spcPts val="0"/>
              </a:spcAft>
              <a:buNone/>
            </a:pPr>
            <a:r>
              <a:rPr lang="en-US" sz="1300">
                <a:solidFill>
                  <a:srgbClr val="1F1F1F"/>
                </a:solidFill>
                <a:highlight>
                  <a:srgbClr val="F9F9F9"/>
                </a:highlight>
              </a:rPr>
              <a:t>Global Average Pooling (GAP):</a:t>
            </a:r>
            <a:endParaRPr sz="1300">
              <a:solidFill>
                <a:srgbClr val="1F1F1F"/>
              </a:solidFill>
              <a:highlight>
                <a:srgbClr val="F9F9F9"/>
              </a:highlight>
            </a:endParaRPr>
          </a:p>
          <a:p>
            <a:pPr indent="-311150" lvl="1" marL="914400" rtl="0" algn="l">
              <a:lnSpc>
                <a:spcPct val="115000"/>
              </a:lnSpc>
              <a:spcBef>
                <a:spcPts val="1200"/>
              </a:spcBef>
              <a:spcAft>
                <a:spcPts val="0"/>
              </a:spcAft>
              <a:buClr>
                <a:srgbClr val="1F1F1F"/>
              </a:buClr>
              <a:buSzPts val="1300"/>
              <a:buChar char="●"/>
            </a:pPr>
            <a:r>
              <a:rPr lang="en-US" sz="1300">
                <a:solidFill>
                  <a:srgbClr val="1F1F1F"/>
                </a:solidFill>
                <a:highlight>
                  <a:srgbClr val="F9F9F9"/>
                </a:highlight>
              </a:rPr>
              <a:t>Thay thế lớp Flatten truyền thống.</a:t>
            </a:r>
            <a:endParaRPr sz="1300">
              <a:solidFill>
                <a:srgbClr val="1F1F1F"/>
              </a:solidFill>
              <a:highlight>
                <a:srgbClr val="F9F9F9"/>
              </a:highlight>
            </a:endParaRPr>
          </a:p>
          <a:p>
            <a:pPr indent="-311150" lvl="1" marL="914400" rtl="0" algn="l">
              <a:lnSpc>
                <a:spcPct val="115000"/>
              </a:lnSpc>
              <a:spcBef>
                <a:spcPts val="0"/>
              </a:spcBef>
              <a:spcAft>
                <a:spcPts val="0"/>
              </a:spcAft>
              <a:buClr>
                <a:srgbClr val="1F1F1F"/>
              </a:buClr>
              <a:buSzPts val="1300"/>
              <a:buChar char="●"/>
            </a:pPr>
            <a:r>
              <a:rPr lang="en-US" sz="1300">
                <a:solidFill>
                  <a:srgbClr val="1F1F1F"/>
                </a:solidFill>
                <a:highlight>
                  <a:srgbClr val="F9F9F9"/>
                </a:highlight>
              </a:rPr>
              <a:t>Lợi ích: Giảm số lượng tham số, chống Overfitting và tổng hợp thông tin từ toàn bộ trọng số Attention.</a:t>
            </a:r>
            <a:endParaRPr sz="1300">
              <a:solidFill>
                <a:srgbClr val="1F1F1F"/>
              </a:solidFill>
              <a:highlight>
                <a:srgbClr val="F9F9F9"/>
              </a:highlight>
            </a:endParaRPr>
          </a:p>
          <a:p>
            <a:pPr indent="0" lvl="0" marL="0" rtl="0" algn="l">
              <a:lnSpc>
                <a:spcPct val="115000"/>
              </a:lnSpc>
              <a:spcBef>
                <a:spcPts val="1200"/>
              </a:spcBef>
              <a:spcAft>
                <a:spcPts val="600"/>
              </a:spcAft>
              <a:buNone/>
            </a:pPr>
            <a:r>
              <a:t/>
            </a:r>
            <a:endParaRPr sz="1300">
              <a:solidFill>
                <a:srgbClr val="1F1F1F"/>
              </a:solidFill>
              <a:highlight>
                <a:srgbClr val="F9F9F9"/>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de3356221a_9_30"/>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Self-Attention</a:t>
            </a:r>
            <a:endParaRPr/>
          </a:p>
        </p:txBody>
      </p:sp>
      <p:sp>
        <p:nvSpPr>
          <p:cNvPr id="136" name="Google Shape;136;g3de3356221a_9_30"/>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7" name="Google Shape;137;g3de3356221a_9_30"/>
          <p:cNvSpPr txBox="1"/>
          <p:nvPr/>
        </p:nvSpPr>
        <p:spPr>
          <a:xfrm>
            <a:off x="195000" y="1354650"/>
            <a:ext cx="8272200" cy="2434200"/>
          </a:xfrm>
          <a:prstGeom prst="rect">
            <a:avLst/>
          </a:prstGeom>
          <a:noFill/>
          <a:ln>
            <a:noFill/>
          </a:ln>
        </p:spPr>
        <p:txBody>
          <a:bodyPr anchorCtr="0" anchor="t" bIns="91425" lIns="91425" spcFirstLastPara="1" rIns="91425" wrap="square" tIns="91425">
            <a:spAutoFit/>
          </a:bodyPr>
          <a:lstStyle/>
          <a:p>
            <a:pPr indent="-346075" lvl="0" marL="457200" rtl="0" algn="l">
              <a:lnSpc>
                <a:spcPct val="115000"/>
              </a:lnSpc>
              <a:spcBef>
                <a:spcPts val="600"/>
              </a:spcBef>
              <a:spcAft>
                <a:spcPts val="0"/>
              </a:spcAft>
              <a:buClr>
                <a:srgbClr val="1F1F1F"/>
              </a:buClr>
              <a:buSzPts val="1850"/>
              <a:buChar char="●"/>
            </a:pPr>
            <a:r>
              <a:rPr lang="en-US" sz="1850">
                <a:solidFill>
                  <a:srgbClr val="1F1F1F"/>
                </a:solidFill>
                <a:highlight>
                  <a:srgbClr val="F9F9F9"/>
                </a:highlight>
              </a:rPr>
              <a:t>Tính toán trọng số (Weights Calculation): Mô hình tự học cách gán điểm quan trọng cho từng API call dựa trên ngữ cảnh xung quanh.</a:t>
            </a:r>
            <a:endParaRPr sz="1850">
              <a:solidFill>
                <a:srgbClr val="1F1F1F"/>
              </a:solidFill>
              <a:highlight>
                <a:srgbClr val="F9F9F9"/>
              </a:highlight>
            </a:endParaRPr>
          </a:p>
          <a:p>
            <a:pPr indent="-346075" lvl="0" marL="457200" rtl="0" algn="l">
              <a:lnSpc>
                <a:spcPct val="115000"/>
              </a:lnSpc>
              <a:spcBef>
                <a:spcPts val="0"/>
              </a:spcBef>
              <a:spcAft>
                <a:spcPts val="0"/>
              </a:spcAft>
              <a:buClr>
                <a:srgbClr val="1F1F1F"/>
              </a:buClr>
              <a:buSzPts val="1850"/>
              <a:buChar char="●"/>
            </a:pPr>
            <a:r>
              <a:rPr lang="en-US" sz="1850">
                <a:solidFill>
                  <a:srgbClr val="1F1F1F"/>
                </a:solidFill>
                <a:highlight>
                  <a:srgbClr val="F9F9F9"/>
                </a:highlight>
              </a:rPr>
              <a:t>Heatmap Trực quan: Trích xuất mảng trọng số Attention trực tiếp từ lớp MHA.</a:t>
            </a:r>
            <a:endParaRPr sz="1850">
              <a:solidFill>
                <a:srgbClr val="1F1F1F"/>
              </a:solidFill>
              <a:highlight>
                <a:srgbClr val="F9F9F9"/>
              </a:highlight>
            </a:endParaRPr>
          </a:p>
          <a:p>
            <a:pPr indent="-346075" lvl="0" marL="457200" rtl="0" algn="l">
              <a:lnSpc>
                <a:spcPct val="115000"/>
              </a:lnSpc>
              <a:spcBef>
                <a:spcPts val="0"/>
              </a:spcBef>
              <a:spcAft>
                <a:spcPts val="0"/>
              </a:spcAft>
              <a:buClr>
                <a:srgbClr val="1F1F1F"/>
              </a:buClr>
              <a:buSzPts val="1850"/>
              <a:buChar char="●"/>
            </a:pPr>
            <a:r>
              <a:rPr lang="en-US" sz="1850">
                <a:solidFill>
                  <a:srgbClr val="1F1F1F"/>
                </a:solidFill>
                <a:highlight>
                  <a:srgbClr val="F9F9F9"/>
                </a:highlight>
              </a:rPr>
              <a:t>Sự khác biệt: Không cần mô hình phụ (surrogate model), Attention phản ánh chính xác "suy nghĩ" bên trong của mạng Neural khi quyết định đó là Malware.</a:t>
            </a:r>
            <a:endParaRPr sz="1850">
              <a:solidFill>
                <a:srgbClr val="1F1F1F"/>
              </a:solidFill>
              <a:highlight>
                <a:srgbClr val="F9F9F9"/>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de3356221a_9_102"/>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a:t>
            </a:r>
            <a:r>
              <a:rPr b="1" lang="en-US"/>
              <a:t>Self-Attention</a:t>
            </a:r>
            <a:endParaRPr/>
          </a:p>
        </p:txBody>
      </p:sp>
      <p:sp>
        <p:nvSpPr>
          <p:cNvPr id="143" name="Google Shape;143;g3de3356221a_9_102"/>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44" name="Google Shape;144;g3de3356221a_9_102"/>
          <p:cNvSpPr txBox="1"/>
          <p:nvPr/>
        </p:nvSpPr>
        <p:spPr>
          <a:xfrm>
            <a:off x="195000" y="1354650"/>
            <a:ext cx="82722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rgbClr val="1F1F1F"/>
                </a:solidFill>
                <a:highlight>
                  <a:srgbClr val="F9F9F9"/>
                </a:highlight>
              </a:rPr>
              <a:t>Sử dụng phưởng pháp </a:t>
            </a:r>
            <a:r>
              <a:rPr lang="en-US">
                <a:solidFill>
                  <a:srgbClr val="1F1F1F"/>
                </a:solidFill>
                <a:highlight>
                  <a:srgbClr val="F9F9F9"/>
                </a:highlight>
              </a:rPr>
              <a:t>Transformer- t</a:t>
            </a:r>
            <a:r>
              <a:rPr lang="en-US">
                <a:solidFill>
                  <a:srgbClr val="1F1F1F"/>
                </a:solidFill>
                <a:highlight>
                  <a:srgbClr val="F9F9F9"/>
                </a:highlight>
              </a:rPr>
              <a:t>ích vô hướng tỉ lệ (Scaled Dot-Product): </a:t>
            </a:r>
            <a:endParaRPr>
              <a:solidFill>
                <a:srgbClr val="1F1F1F"/>
              </a:solidFill>
              <a:highlight>
                <a:srgbClr val="F9F9F9"/>
              </a:highlight>
            </a:endParaRPr>
          </a:p>
          <a:p>
            <a:pPr indent="-317500" lvl="0" marL="457200" rtl="0" algn="l">
              <a:lnSpc>
                <a:spcPct val="115000"/>
              </a:lnSpc>
              <a:spcBef>
                <a:spcPts val="600"/>
              </a:spcBef>
              <a:spcAft>
                <a:spcPts val="0"/>
              </a:spcAft>
              <a:buClr>
                <a:srgbClr val="1F1F1F"/>
              </a:buClr>
              <a:buSzPts val="1400"/>
              <a:buChar char="●"/>
            </a:pPr>
            <a:r>
              <a:rPr lang="en-US">
                <a:solidFill>
                  <a:srgbClr val="1F1F1F"/>
                </a:solidFill>
                <a:highlight>
                  <a:srgbClr val="F9F9F9"/>
                </a:highlight>
              </a:rPr>
              <a:t>Mô hình sẽ tạo ra 3 ma trận: Query (Q), Key (K) và Value (V) từ các lệnh API.</a:t>
            </a:r>
            <a:endParaRPr>
              <a:solidFill>
                <a:srgbClr val="1F1F1F"/>
              </a:solidFill>
              <a:highlight>
                <a:srgbClr val="F9F9F9"/>
              </a:highlight>
            </a:endParaRPr>
          </a:p>
          <a:p>
            <a:pPr indent="-317500" lvl="0" marL="457200" rtl="0" algn="l">
              <a:lnSpc>
                <a:spcPct val="115000"/>
              </a:lnSpc>
              <a:spcBef>
                <a:spcPts val="0"/>
              </a:spcBef>
              <a:spcAft>
                <a:spcPts val="0"/>
              </a:spcAft>
              <a:buClr>
                <a:srgbClr val="1F1F1F"/>
              </a:buClr>
              <a:buSzPts val="1400"/>
              <a:buChar char="●"/>
            </a:pPr>
            <a:r>
              <a:rPr lang="en-US">
                <a:solidFill>
                  <a:srgbClr val="1F1F1F"/>
                </a:solidFill>
                <a:highlight>
                  <a:srgbClr val="F9F9F9"/>
                </a:highlight>
              </a:rPr>
              <a:t>Nó sẽ tính toán độ tương quan giữa "Câu hỏi" (Q) và "Chìa khóa" (K) để biết lệnh API nào cần được ưu tiên (Softmax).</a:t>
            </a:r>
            <a:endParaRPr>
              <a:solidFill>
                <a:srgbClr val="1F1F1F"/>
              </a:solidFill>
              <a:highlight>
                <a:srgbClr val="F9F9F9"/>
              </a:highlight>
            </a:endParaRPr>
          </a:p>
          <a:p>
            <a:pPr indent="-317500" lvl="0" marL="457200" rtl="0" algn="l">
              <a:lnSpc>
                <a:spcPct val="115000"/>
              </a:lnSpc>
              <a:spcBef>
                <a:spcPts val="0"/>
              </a:spcBef>
              <a:spcAft>
                <a:spcPts val="0"/>
              </a:spcAft>
              <a:buClr>
                <a:srgbClr val="1F1F1F"/>
              </a:buClr>
              <a:buSzPts val="1400"/>
              <a:buChar char="●"/>
            </a:pPr>
            <a:r>
              <a:rPr lang="en-US">
                <a:solidFill>
                  <a:srgbClr val="1F1F1F"/>
                </a:solidFill>
                <a:highlight>
                  <a:srgbClr val="F9F9F9"/>
                </a:highlight>
              </a:rPr>
              <a:t>Sau đó nhân với "Giá trị" (V) để trích xuất đặc trưng quan trọng nhất</a:t>
            </a:r>
            <a:endParaRPr>
              <a:solidFill>
                <a:srgbClr val="1F1F1F"/>
              </a:solidFill>
              <a:highlight>
                <a:srgbClr val="F9F9F9"/>
              </a:highlight>
            </a:endParaRPr>
          </a:p>
          <a:p>
            <a:pPr indent="0" lvl="0" marL="457200" rtl="0" algn="l">
              <a:lnSpc>
                <a:spcPct val="115000"/>
              </a:lnSpc>
              <a:spcBef>
                <a:spcPts val="600"/>
              </a:spcBef>
              <a:spcAft>
                <a:spcPts val="600"/>
              </a:spcAft>
              <a:buNone/>
            </a:pPr>
            <a:r>
              <a:t/>
            </a:r>
            <a:endParaRPr>
              <a:solidFill>
                <a:srgbClr val="1F1F1F"/>
              </a:solidFill>
              <a:highlight>
                <a:srgbClr val="F9F9F9"/>
              </a:highlight>
            </a:endParaRPr>
          </a:p>
        </p:txBody>
      </p:sp>
      <p:pic>
        <p:nvPicPr>
          <p:cNvPr id="145" name="Google Shape;145;g3de3356221a_9_102"/>
          <p:cNvPicPr preferRelativeResize="0"/>
          <p:nvPr/>
        </p:nvPicPr>
        <p:blipFill>
          <a:blip r:embed="rId3">
            <a:alphaModFix/>
          </a:blip>
          <a:stretch>
            <a:fillRect/>
          </a:stretch>
        </p:blipFill>
        <p:spPr>
          <a:xfrm>
            <a:off x="1534277" y="3147750"/>
            <a:ext cx="6075436" cy="1263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de3356221a_9_113"/>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a:t>
            </a:r>
            <a:r>
              <a:rPr b="1" lang="en-US"/>
              <a:t>Gobal Average Pooling</a:t>
            </a:r>
            <a:endParaRPr/>
          </a:p>
        </p:txBody>
      </p:sp>
      <p:sp>
        <p:nvSpPr>
          <p:cNvPr id="151" name="Google Shape;151;g3de3356221a_9_113"/>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52" name="Google Shape;152;g3de3356221a_9_113"/>
          <p:cNvSpPr txBox="1"/>
          <p:nvPr/>
        </p:nvSpPr>
        <p:spPr>
          <a:xfrm>
            <a:off x="176425" y="1648200"/>
            <a:ext cx="82722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600"/>
              </a:spcBef>
              <a:spcAft>
                <a:spcPts val="0"/>
              </a:spcAft>
              <a:buClr>
                <a:srgbClr val="1F1F1F"/>
              </a:buClr>
              <a:buSzPts val="1600"/>
              <a:buChar char="●"/>
            </a:pPr>
            <a:r>
              <a:rPr b="1" lang="en-US" sz="1600">
                <a:solidFill>
                  <a:srgbClr val="1F1F1F"/>
                </a:solidFill>
                <a:highlight>
                  <a:schemeClr val="lt1"/>
                </a:highlight>
              </a:rPr>
              <a:t>Cơ chế:</a:t>
            </a:r>
            <a:r>
              <a:rPr lang="en-US" sz="1600">
                <a:solidFill>
                  <a:srgbClr val="1F1F1F"/>
                </a:solidFill>
                <a:highlight>
                  <a:schemeClr val="lt1"/>
                </a:highlight>
              </a:rPr>
              <a:t> Tính trung bình cộng các đặc trưng theo chiều thời gian để nén chuỗi API (3D) thành một vector ngữ cảnh duy nhất (2D).</a:t>
            </a:r>
            <a:endParaRPr sz="1600">
              <a:solidFill>
                <a:srgbClr val="1F1F1F"/>
              </a:solidFill>
              <a:highlight>
                <a:schemeClr val="lt1"/>
              </a:highlight>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highlight>
                  <a:schemeClr val="lt1"/>
                </a:highlight>
              </a:rPr>
              <a:t>Ưu điểm:</a:t>
            </a:r>
            <a:r>
              <a:rPr lang="en-US" sz="1600">
                <a:solidFill>
                  <a:srgbClr val="1F1F1F"/>
                </a:solidFill>
                <a:highlight>
                  <a:schemeClr val="lt1"/>
                </a:highlight>
              </a:rPr>
              <a:t> Loại bỏ tham số dư thừa để chống Overfitting và giúp mô hình nhận diện hành vi độc hại ở bất kỳ vị trí nào trong chuỗi.</a:t>
            </a:r>
            <a:endParaRPr sz="1600">
              <a:solidFill>
                <a:srgbClr val="1F1F1F"/>
              </a:solidFill>
              <a:highlight>
                <a:schemeClr val="lt1"/>
              </a:highlight>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highlight>
                  <a:schemeClr val="lt1"/>
                </a:highlight>
              </a:rPr>
              <a:t>Vai trò XAI:</a:t>
            </a:r>
            <a:r>
              <a:rPr lang="en-US" sz="1600">
                <a:solidFill>
                  <a:srgbClr val="1F1F1F"/>
                </a:solidFill>
                <a:highlight>
                  <a:schemeClr val="lt1"/>
                </a:highlight>
              </a:rPr>
              <a:t> Bảo toàn ý nghĩa các kênh đặc trưng, cho phép SHAP/LIME ánh xạ trọng số giải thích ngược lại từng lệnh API một cách trực tiếp.  s</a:t>
            </a:r>
            <a:endParaRPr sz="2200">
              <a:solidFill>
                <a:srgbClr val="1F1F1F"/>
              </a:solidFill>
              <a:highlight>
                <a:schemeClr val="lt1"/>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de3356221a_9_82"/>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a:t>
            </a:r>
            <a:r>
              <a:rPr b="1" lang="en-US"/>
              <a:t>XAI</a:t>
            </a:r>
            <a:endParaRPr/>
          </a:p>
        </p:txBody>
      </p:sp>
      <p:sp>
        <p:nvSpPr>
          <p:cNvPr id="158" name="Google Shape;158;g3de3356221a_9_82"/>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59" name="Google Shape;159;g3de3356221a_9_82"/>
          <p:cNvSpPr txBox="1"/>
          <p:nvPr/>
        </p:nvSpPr>
        <p:spPr>
          <a:xfrm>
            <a:off x="195000" y="1354650"/>
            <a:ext cx="8272200" cy="31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550">
                <a:solidFill>
                  <a:srgbClr val="1F1F1F"/>
                </a:solidFill>
                <a:highlight>
                  <a:srgbClr val="F9F9F9"/>
                </a:highlight>
              </a:rPr>
              <a:t>Hệ thống tích hợp 4 phương pháp giải thích khác nhau:</a:t>
            </a:r>
            <a:endParaRPr sz="1550">
              <a:solidFill>
                <a:srgbClr val="1F1F1F"/>
              </a:solidFill>
              <a:highlight>
                <a:srgbClr val="F9F9F9"/>
              </a:highlight>
            </a:endParaRPr>
          </a:p>
          <a:p>
            <a:pPr indent="-327025" lvl="0" marL="457200" rtl="0" algn="l">
              <a:lnSpc>
                <a:spcPct val="115000"/>
              </a:lnSpc>
              <a:spcBef>
                <a:spcPts val="600"/>
              </a:spcBef>
              <a:spcAft>
                <a:spcPts val="0"/>
              </a:spcAft>
              <a:buClr>
                <a:srgbClr val="1F1F1F"/>
              </a:buClr>
              <a:buSzPts val="1550"/>
              <a:buAutoNum type="arabicPeriod"/>
            </a:pPr>
            <a:r>
              <a:rPr lang="en-US" sz="1550">
                <a:solidFill>
                  <a:srgbClr val="1F1F1F"/>
                </a:solidFill>
                <a:highlight>
                  <a:srgbClr val="F9F9F9"/>
                </a:highlight>
              </a:rPr>
              <a:t>LIME (Local Interpretable Model-agnostic Explanations): Xây dựng mô hình tuyến tính xấp xỉ cục bộ quanh mẫu mã độc.</a:t>
            </a:r>
            <a:endParaRPr sz="1550">
              <a:solidFill>
                <a:srgbClr val="1F1F1F"/>
              </a:solidFill>
              <a:highlight>
                <a:srgbClr val="F9F9F9"/>
              </a:highlight>
            </a:endParaRPr>
          </a:p>
          <a:p>
            <a:pPr indent="-327025" lvl="0" marL="457200" rtl="0" algn="l">
              <a:lnSpc>
                <a:spcPct val="115000"/>
              </a:lnSpc>
              <a:spcBef>
                <a:spcPts val="0"/>
              </a:spcBef>
              <a:spcAft>
                <a:spcPts val="0"/>
              </a:spcAft>
              <a:buClr>
                <a:srgbClr val="1F1F1F"/>
              </a:buClr>
              <a:buSzPts val="1550"/>
              <a:buAutoNum type="arabicPeriod"/>
            </a:pPr>
            <a:r>
              <a:rPr lang="en-US" sz="1550">
                <a:solidFill>
                  <a:srgbClr val="1F1F1F"/>
                </a:solidFill>
                <a:highlight>
                  <a:srgbClr val="F9F9F9"/>
                </a:highlight>
              </a:rPr>
              <a:t>SHAP (SHapley Additive exPlanations): Dựa trên lý thuyết trò chơi để phân bổ công bằng mức độ đóng góp của từng API. (Sử dụng KernelExplainer để tương thích với MHA).</a:t>
            </a:r>
            <a:endParaRPr sz="1550">
              <a:solidFill>
                <a:srgbClr val="1F1F1F"/>
              </a:solidFill>
              <a:highlight>
                <a:srgbClr val="F9F9F9"/>
              </a:highlight>
            </a:endParaRPr>
          </a:p>
          <a:p>
            <a:pPr indent="-327025" lvl="0" marL="457200" rtl="0" algn="l">
              <a:lnSpc>
                <a:spcPct val="115000"/>
              </a:lnSpc>
              <a:spcBef>
                <a:spcPts val="0"/>
              </a:spcBef>
              <a:spcAft>
                <a:spcPts val="0"/>
              </a:spcAft>
              <a:buClr>
                <a:srgbClr val="1F1F1F"/>
              </a:buClr>
              <a:buSzPts val="1550"/>
              <a:buAutoNum type="arabicPeriod"/>
            </a:pPr>
            <a:r>
              <a:rPr lang="en-US" sz="1550">
                <a:solidFill>
                  <a:srgbClr val="1F1F1F"/>
                </a:solidFill>
                <a:highlight>
                  <a:srgbClr val="F9F9F9"/>
                </a:highlight>
              </a:rPr>
              <a:t>LRP (Layer-wise Relevance Propagation): Lan truyền ngược sự liên quan từ output về input. (Tùy chỉnh riêng cho kiến trúc BiLSTM của dự án).</a:t>
            </a:r>
            <a:endParaRPr sz="1550">
              <a:solidFill>
                <a:srgbClr val="1F1F1F"/>
              </a:solidFill>
              <a:highlight>
                <a:srgbClr val="F9F9F9"/>
              </a:highlight>
            </a:endParaRPr>
          </a:p>
          <a:p>
            <a:pPr indent="-327025" lvl="0" marL="457200" rtl="0" algn="l">
              <a:lnSpc>
                <a:spcPct val="115000"/>
              </a:lnSpc>
              <a:spcBef>
                <a:spcPts val="0"/>
              </a:spcBef>
              <a:spcAft>
                <a:spcPts val="0"/>
              </a:spcAft>
              <a:buClr>
                <a:srgbClr val="1F1F1F"/>
              </a:buClr>
              <a:buSzPts val="1550"/>
              <a:buAutoNum type="arabicPeriod"/>
            </a:pPr>
            <a:r>
              <a:rPr lang="en-US" sz="1550">
                <a:solidFill>
                  <a:srgbClr val="1F1F1F"/>
                </a:solidFill>
                <a:highlight>
                  <a:srgbClr val="F9F9F9"/>
                </a:highlight>
              </a:rPr>
              <a:t>Attention-based XAI: Sử dụng chính trọng số của mô hình để giải thích.</a:t>
            </a:r>
            <a:endParaRPr sz="1550">
              <a:solidFill>
                <a:srgbClr val="1F1F1F"/>
              </a:solidFill>
              <a:highlight>
                <a:srgbClr val="F9F9F9"/>
              </a:highlight>
            </a:endParaRPr>
          </a:p>
          <a:p>
            <a:pPr indent="0" lvl="0" marL="457200" rtl="0" algn="l">
              <a:lnSpc>
                <a:spcPct val="115000"/>
              </a:lnSpc>
              <a:spcBef>
                <a:spcPts val="600"/>
              </a:spcBef>
              <a:spcAft>
                <a:spcPts val="600"/>
              </a:spcAft>
              <a:buNone/>
            </a:pPr>
            <a:r>
              <a:t/>
            </a:r>
            <a:endParaRPr sz="2350">
              <a:solidFill>
                <a:srgbClr val="1F1F1F"/>
              </a:solidFill>
              <a:highlight>
                <a:srgbClr val="F9F9F9"/>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de3356221a_9_89"/>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Mô Hình: XAI</a:t>
            </a:r>
            <a:endParaRPr/>
          </a:p>
        </p:txBody>
      </p:sp>
      <p:sp>
        <p:nvSpPr>
          <p:cNvPr id="165" name="Google Shape;165;g3de3356221a_9_89"/>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66" name="Google Shape;166;g3de3356221a_9_89"/>
          <p:cNvSpPr txBox="1"/>
          <p:nvPr/>
        </p:nvSpPr>
        <p:spPr>
          <a:xfrm>
            <a:off x="471900" y="1468200"/>
            <a:ext cx="8058900" cy="220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600">
                <a:solidFill>
                  <a:srgbClr val="1F1F1F"/>
                </a:solidFill>
                <a:highlight>
                  <a:srgbClr val="F9F9F9"/>
                </a:highlight>
              </a:rPr>
              <a:t>Tiêu chí đánh giá trên mô hình XAI:</a:t>
            </a:r>
            <a:endParaRPr sz="1600">
              <a:solidFill>
                <a:srgbClr val="1F1F1F"/>
              </a:solidFill>
              <a:highlight>
                <a:srgbClr val="F9F9F9"/>
              </a:highlight>
            </a:endParaRPr>
          </a:p>
          <a:p>
            <a:pPr indent="-330200" lvl="0" marL="457200" rtl="0" algn="l">
              <a:lnSpc>
                <a:spcPct val="115000"/>
              </a:lnSpc>
              <a:spcBef>
                <a:spcPts val="600"/>
              </a:spcBef>
              <a:spcAft>
                <a:spcPts val="0"/>
              </a:spcAft>
              <a:buClr>
                <a:schemeClr val="dk2"/>
              </a:buClr>
              <a:buSzPts val="1600"/>
              <a:buAutoNum type="arabicPeriod"/>
            </a:pPr>
            <a:r>
              <a:rPr lang="en-US" sz="1600">
                <a:solidFill>
                  <a:schemeClr val="dk2"/>
                </a:solidFill>
                <a:highlight>
                  <a:srgbClr val="F9F9F9"/>
                </a:highlight>
              </a:rPr>
              <a:t>Sự đồng thuận (Compatibility - IS Score): Tính toán sự giao thoa giữa Top-K API quan trọng nhất của các phương pháp khác nhau.</a:t>
            </a:r>
            <a:endParaRPr sz="1600">
              <a:solidFill>
                <a:schemeClr val="dk2"/>
              </a:solidFill>
              <a:highlight>
                <a:srgbClr val="F9F9F9"/>
              </a:highlight>
            </a:endParaRPr>
          </a:p>
          <a:p>
            <a:pPr indent="-330200" lvl="0" marL="457200" rtl="0" algn="l">
              <a:lnSpc>
                <a:spcPct val="115000"/>
              </a:lnSpc>
              <a:spcBef>
                <a:spcPts val="0"/>
              </a:spcBef>
              <a:spcAft>
                <a:spcPts val="0"/>
              </a:spcAft>
              <a:buClr>
                <a:schemeClr val="dk2"/>
              </a:buClr>
              <a:buSzPts val="1600"/>
              <a:buAutoNum type="arabicPeriod"/>
            </a:pPr>
            <a:r>
              <a:rPr lang="en-US" sz="1600">
                <a:solidFill>
                  <a:schemeClr val="dk2"/>
                </a:solidFill>
                <a:highlight>
                  <a:srgbClr val="F9F9F9"/>
                </a:highlight>
              </a:rPr>
              <a:t>Độ tụt giảm xác suất (Perturbation Analysis): Xóa bỏ Top-K% API quan trọng nhất và đo % sụt giảm của Prediction Score.</a:t>
            </a:r>
            <a:endParaRPr sz="1600">
              <a:solidFill>
                <a:schemeClr val="dk2"/>
              </a:solidFill>
              <a:highlight>
                <a:srgbClr val="F9F9F9"/>
              </a:highlight>
            </a:endParaRPr>
          </a:p>
          <a:p>
            <a:pPr indent="-330200" lvl="0" marL="457200" rtl="0" algn="l">
              <a:lnSpc>
                <a:spcPct val="115000"/>
              </a:lnSpc>
              <a:spcBef>
                <a:spcPts val="0"/>
              </a:spcBef>
              <a:spcAft>
                <a:spcPts val="0"/>
              </a:spcAft>
              <a:buClr>
                <a:schemeClr val="dk2"/>
              </a:buClr>
              <a:buSzPts val="1600"/>
              <a:buAutoNum type="arabicPeriod"/>
            </a:pPr>
            <a:r>
              <a:rPr lang="en-US" sz="1600">
                <a:solidFill>
                  <a:schemeClr val="dk2"/>
                </a:solidFill>
                <a:highlight>
                  <a:srgbClr val="F9F9F9"/>
                </a:highlight>
              </a:rPr>
              <a:t>Độ ổn định (Stability Score): Đo lường sự biến thiên của lời giải thích khi thực hiện nhiều lần trên cùng một mẫu dữ liệu.</a:t>
            </a:r>
            <a:endParaRPr sz="1600">
              <a:solidFill>
                <a:srgbClr val="1F1F1F"/>
              </a:solidFill>
              <a:highlight>
                <a:srgbClr val="F9F9F9"/>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d6ebb040dd_0_1"/>
          <p:cNvSpPr txBox="1"/>
          <p:nvPr>
            <p:ph type="title"/>
          </p:nvPr>
        </p:nvSpPr>
        <p:spPr>
          <a:xfrm>
            <a:off x="460950" y="2079420"/>
            <a:ext cx="8222100" cy="101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b="1" lang="en-US"/>
              <a:t>ĐÁNH GIÁ VÀ THỰC NGHIỆM</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de3356221a_9_24"/>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Dataset</a:t>
            </a:r>
            <a:endParaRPr/>
          </a:p>
        </p:txBody>
      </p:sp>
      <p:sp>
        <p:nvSpPr>
          <p:cNvPr id="177" name="Google Shape;177;g3de3356221a_9_24"/>
          <p:cNvSpPr txBox="1"/>
          <p:nvPr>
            <p:ph idx="1" type="body"/>
          </p:nvPr>
        </p:nvSpPr>
        <p:spPr>
          <a:xfrm>
            <a:off x="471900" y="820500"/>
            <a:ext cx="8222100" cy="39084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US" sz="1800"/>
              <a:t>API Call Sequences</a:t>
            </a:r>
            <a:r>
              <a:rPr lang="en-US" sz="1800"/>
              <a:t> (de Oliveira &amp; Sassi, 2023)</a:t>
            </a:r>
            <a:endParaRPr sz="1800"/>
          </a:p>
          <a:p>
            <a:pPr indent="-342900" lvl="0" marL="457200" rtl="0" algn="l">
              <a:spcBef>
                <a:spcPts val="1200"/>
              </a:spcBef>
              <a:spcAft>
                <a:spcPts val="0"/>
              </a:spcAft>
              <a:buSzPts val="1800"/>
              <a:buFont typeface="Roboto"/>
              <a:buChar char="●"/>
            </a:pPr>
            <a:r>
              <a:rPr lang="en-US" sz="1800"/>
              <a:t>Nguồn: Báo cáo Cuckoo Sandbox</a:t>
            </a:r>
            <a:endParaRPr sz="1800"/>
          </a:p>
          <a:p>
            <a:pPr indent="-342900" lvl="0" marL="457200" rtl="0" algn="l">
              <a:spcBef>
                <a:spcPts val="0"/>
              </a:spcBef>
              <a:spcAft>
                <a:spcPts val="0"/>
              </a:spcAft>
              <a:buSzPts val="1800"/>
              <a:buFont typeface="Roboto"/>
              <a:buChar char="●"/>
            </a:pPr>
            <a:r>
              <a:rPr lang="en-US" sz="1800"/>
              <a:t>42,797 chuỗi malware + 1,079 chuỗi goodware</a:t>
            </a:r>
            <a:endParaRPr sz="1800"/>
          </a:p>
          <a:p>
            <a:pPr indent="-342900" lvl="0" marL="457200" rtl="0" algn="l">
              <a:spcBef>
                <a:spcPts val="0"/>
              </a:spcBef>
              <a:spcAft>
                <a:spcPts val="0"/>
              </a:spcAft>
              <a:buSzPts val="1800"/>
              <a:buFont typeface="Roboto"/>
              <a:buChar char="●"/>
            </a:pPr>
            <a:r>
              <a:rPr lang="en-US" sz="1800"/>
              <a:t>307 hàm API Windows duy nhất</a:t>
            </a:r>
            <a:endParaRPr sz="1800"/>
          </a:p>
          <a:p>
            <a:pPr indent="-342900" lvl="0" marL="457200" rtl="0" algn="l">
              <a:spcBef>
                <a:spcPts val="0"/>
              </a:spcBef>
              <a:spcAft>
                <a:spcPts val="0"/>
              </a:spcAft>
              <a:buSzPts val="1800"/>
              <a:buFont typeface="Roboto"/>
              <a:buChar char="●"/>
            </a:pPr>
            <a:r>
              <a:rPr lang="en-US" sz="1800"/>
              <a:t>Mỗi chuỗi: 100 lệnh API không lặp liên tiếp đầu tiên</a:t>
            </a:r>
            <a:endParaRPr sz="1800"/>
          </a:p>
          <a:p>
            <a:pPr indent="-342900" lvl="0" marL="457200" rtl="0" algn="l">
              <a:spcBef>
                <a:spcPts val="0"/>
              </a:spcBef>
              <a:spcAft>
                <a:spcPts val="0"/>
              </a:spcAft>
              <a:buSzPts val="1800"/>
              <a:buFont typeface="Roboto"/>
              <a:buChar char="●"/>
            </a:pPr>
            <a:r>
              <a:rPr lang="en-US" sz="1800"/>
              <a:t>Tải tại: </a:t>
            </a:r>
            <a:r>
              <a:rPr lang="en-US" sz="1800" u="sng">
                <a:solidFill>
                  <a:schemeClr val="hlink"/>
                </a:solidFill>
                <a:hlinkClick r:id="rId3"/>
              </a:rPr>
              <a:t>IEEE DataPort</a:t>
            </a:r>
            <a:endParaRPr sz="1800" u="sng">
              <a:solidFill>
                <a:schemeClr val="hlink"/>
              </a:solidFill>
            </a:endParaRPr>
          </a:p>
          <a:p>
            <a:pPr indent="0" lvl="0" marL="0" rtl="0" algn="l">
              <a:lnSpc>
                <a:spcPct val="115000"/>
              </a:lnSpc>
              <a:spcBef>
                <a:spcPts val="1600"/>
              </a:spcBef>
              <a:spcAft>
                <a:spcPts val="0"/>
              </a:spcAft>
              <a:buSzPts val="2200"/>
              <a:buNone/>
            </a:pPr>
            <a:r>
              <a:rPr b="1" lang="en-US" sz="1800"/>
              <a:t>Window PE Malware  API Dataset</a:t>
            </a:r>
            <a:r>
              <a:rPr lang="en-US" sz="1800"/>
              <a:t>: </a:t>
            </a:r>
            <a:r>
              <a:rPr lang="en-US" sz="1400">
                <a:solidFill>
                  <a:schemeClr val="hlink"/>
                </a:solidFill>
                <a:uFill>
                  <a:noFill/>
                </a:uFill>
                <a:latin typeface="Arial"/>
                <a:ea typeface="Arial"/>
                <a:cs typeface="Arial"/>
                <a:sym typeface="Arial"/>
                <a:hlinkClick r:id="rId4"/>
              </a:rPr>
              <a:t>Windows-PE-Malware-API-dataset</a:t>
            </a:r>
            <a:endParaRPr sz="1800"/>
          </a:p>
          <a:p>
            <a:pPr indent="0" lvl="0" marL="0" rtl="0" algn="l">
              <a:lnSpc>
                <a:spcPct val="115000"/>
              </a:lnSpc>
              <a:spcBef>
                <a:spcPts val="1600"/>
              </a:spcBef>
              <a:spcAft>
                <a:spcPts val="1600"/>
              </a:spcAft>
              <a:buSzPts val="2200"/>
              <a:buNone/>
            </a:pPr>
            <a:r>
              <a:rPr lang="en-US" sz="1800"/>
              <a:t>582 Malrware, 439 Goodware, 269 API</a:t>
            </a:r>
            <a:endParaRPr sz="1800"/>
          </a:p>
        </p:txBody>
      </p:sp>
      <p:sp>
        <p:nvSpPr>
          <p:cNvPr id="178" name="Google Shape;178;g3de3356221a_9_24"/>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de3356221a_9_7"/>
          <p:cNvSpPr txBox="1"/>
          <p:nvPr>
            <p:ph type="title"/>
          </p:nvPr>
        </p:nvSpPr>
        <p:spPr>
          <a:xfrm>
            <a:off x="471900" y="57875"/>
            <a:ext cx="8222100" cy="67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US"/>
              <a:t>Kết quả</a:t>
            </a:r>
            <a:endParaRPr b="1"/>
          </a:p>
        </p:txBody>
      </p:sp>
      <p:sp>
        <p:nvSpPr>
          <p:cNvPr id="184" name="Google Shape;184;g3de3356221a_9_7"/>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185" name="Google Shape;185;g3de3356221a_9_7"/>
          <p:cNvPicPr preferRelativeResize="0"/>
          <p:nvPr/>
        </p:nvPicPr>
        <p:blipFill>
          <a:blip r:embed="rId3">
            <a:alphaModFix/>
          </a:blip>
          <a:stretch>
            <a:fillRect/>
          </a:stretch>
        </p:blipFill>
        <p:spPr>
          <a:xfrm>
            <a:off x="66950" y="1427600"/>
            <a:ext cx="8839204" cy="24601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d6ebb040dd_0_5"/>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Ưu điểm</a:t>
            </a:r>
            <a:endParaRPr/>
          </a:p>
        </p:txBody>
      </p:sp>
      <p:sp>
        <p:nvSpPr>
          <p:cNvPr id="191" name="Google Shape;191;g3d6ebb040dd_0_5"/>
          <p:cNvSpPr txBox="1"/>
          <p:nvPr>
            <p:ph idx="1" type="body"/>
          </p:nvPr>
        </p:nvSpPr>
        <p:spPr>
          <a:xfrm>
            <a:off x="471900" y="948750"/>
            <a:ext cx="8222100" cy="3246000"/>
          </a:xfrm>
          <a:prstGeom prst="rect">
            <a:avLst/>
          </a:prstGeom>
          <a:noFill/>
          <a:ln>
            <a:noFill/>
          </a:ln>
        </p:spPr>
        <p:txBody>
          <a:bodyPr anchorCtr="0" anchor="t" bIns="91425" lIns="91425" spcFirstLastPara="1" rIns="91425" wrap="square" tIns="91425">
            <a:noAutofit/>
          </a:bodyPr>
          <a:lstStyle/>
          <a:p>
            <a:pPr indent="-330200" lvl="0" marL="457200" rtl="0" algn="l">
              <a:spcBef>
                <a:spcPts val="60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Kiến trúc BiLSTM + Attention:</a:t>
            </a:r>
            <a:r>
              <a:rPr lang="en-US" sz="1600">
                <a:solidFill>
                  <a:srgbClr val="1F1F1F"/>
                </a:solidFill>
                <a:highlight>
                  <a:schemeClr val="lt1"/>
                </a:highlight>
                <a:latin typeface="Arial"/>
                <a:ea typeface="Arial"/>
                <a:cs typeface="Arial"/>
                <a:sym typeface="Arial"/>
              </a:rPr>
              <a:t> Khả năng học ngữ cảnh 2 chiều mạnh mẽ, tự động xác định và tập trung vào các hành vi quan trọng nhất trong chuỗi API.</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Tối ưu hóa với lớp GAP:</a:t>
            </a:r>
            <a:r>
              <a:rPr lang="en-US" sz="1600">
                <a:solidFill>
                  <a:srgbClr val="1F1F1F"/>
                </a:solidFill>
                <a:highlight>
                  <a:schemeClr val="lt1"/>
                </a:highlight>
                <a:latin typeface="Arial"/>
                <a:ea typeface="Arial"/>
                <a:cs typeface="Arial"/>
                <a:sym typeface="Arial"/>
              </a:rPr>
              <a:t> Lớp Global Average Pooling giúp giảm triệt để số lượng tham số, chống Overfitting và giúp mô hình vận hành nhẹ nhàng trên các thiết bị có CPU/RAM hạn chế.</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Hệ thống giải thích đa chiều (Multi-method XAI):</a:t>
            </a:r>
            <a:r>
              <a:rPr lang="en-US" sz="1600">
                <a:solidFill>
                  <a:srgbClr val="1F1F1F"/>
                </a:solidFill>
                <a:highlight>
                  <a:schemeClr val="lt1"/>
                </a:highlight>
                <a:latin typeface="Arial"/>
                <a:ea typeface="Arial"/>
                <a:cs typeface="Arial"/>
                <a:sym typeface="Arial"/>
              </a:rPr>
              <a:t> Sự kết hợp của 4 phương pháp (LIME, SHAP, LRP, Attention) giúp đối chiếu chéo và tăng độ tin cậy tuyệt đối cho kết quả giải thích.</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Tính linh hoạt cao:</a:t>
            </a:r>
            <a:r>
              <a:rPr lang="en-US" sz="1600">
                <a:solidFill>
                  <a:srgbClr val="1F1F1F"/>
                </a:solidFill>
                <a:highlight>
                  <a:schemeClr val="lt1"/>
                </a:highlight>
                <a:latin typeface="Arial"/>
                <a:ea typeface="Arial"/>
                <a:cs typeface="Arial"/>
                <a:sym typeface="Arial"/>
              </a:rPr>
              <a:t> Bộ tiền xử lý thông minh hỗ trợ đa dạng định dạng dữ liệu (Sequential &amp; Frequency) và tự động xử lý tốt dữ liệu mất cân bằng (Class Weights).</a:t>
            </a:r>
            <a:endParaRPr b="1" sz="1600">
              <a:solidFill>
                <a:srgbClr val="1F1F1F"/>
              </a:solidFill>
              <a:highlight>
                <a:schemeClr val="lt1"/>
              </a:highlight>
            </a:endParaRPr>
          </a:p>
        </p:txBody>
      </p:sp>
      <p:sp>
        <p:nvSpPr>
          <p:cNvPr id="192" name="Google Shape;192;g3d6ebb040dd_0_5"/>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d6ebb040dd_0_12"/>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Nhược điểm</a:t>
            </a:r>
            <a:endParaRPr/>
          </a:p>
        </p:txBody>
      </p:sp>
      <p:sp>
        <p:nvSpPr>
          <p:cNvPr id="198" name="Google Shape;198;g3d6ebb040dd_0_12"/>
          <p:cNvSpPr txBox="1"/>
          <p:nvPr>
            <p:ph idx="1" type="body"/>
          </p:nvPr>
        </p:nvSpPr>
        <p:spPr>
          <a:xfrm>
            <a:off x="471900" y="1347150"/>
            <a:ext cx="8222100" cy="2449200"/>
          </a:xfrm>
          <a:prstGeom prst="rect">
            <a:avLst/>
          </a:prstGeom>
          <a:noFill/>
          <a:ln>
            <a:noFill/>
          </a:ln>
        </p:spPr>
        <p:txBody>
          <a:bodyPr anchorCtr="0" anchor="t" bIns="91425" lIns="91425" spcFirstLastPara="1" rIns="91425" wrap="square" tIns="91425">
            <a:noAutofit/>
          </a:bodyPr>
          <a:lstStyle/>
          <a:p>
            <a:pPr indent="-330200" lvl="0" marL="457200" rtl="0" algn="l">
              <a:spcBef>
                <a:spcPts val="60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Chi phí thời gian tính toán:</a:t>
            </a:r>
            <a:r>
              <a:rPr lang="en-US" sz="1600">
                <a:solidFill>
                  <a:srgbClr val="1F1F1F"/>
                </a:solidFill>
                <a:highlight>
                  <a:schemeClr val="lt1"/>
                </a:highlight>
                <a:latin typeface="Arial"/>
                <a:ea typeface="Arial"/>
                <a:cs typeface="Arial"/>
                <a:sym typeface="Arial"/>
              </a:rPr>
              <a:t> Các phương pháp Post-hoc (SHAP, LIME) vẫn tốn nhiều thời gian xử lý, gây khó khăn nếu cần giải thích đồng thời hàng ngàn mẫu mã độc trong thời gian thực.</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Giới hạn cửa sổ hành vi:</a:t>
            </a:r>
            <a:r>
              <a:rPr lang="en-US" sz="1600">
                <a:solidFill>
                  <a:srgbClr val="1F1F1F"/>
                </a:solidFill>
                <a:highlight>
                  <a:schemeClr val="lt1"/>
                </a:highlight>
                <a:latin typeface="Arial"/>
                <a:ea typeface="Arial"/>
                <a:cs typeface="Arial"/>
                <a:sym typeface="Arial"/>
              </a:rPr>
              <a:t> Việc cố định ngưỡng 100 API đầu tiên có thể bỏ sót các hành vi nguy hiểm xuất hiện muộn của các dòng mã độc tinh vi (APT).</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Hiện tượng "Pha loãng" đặc trưng:</a:t>
            </a:r>
            <a:r>
              <a:rPr lang="en-US" sz="1600">
                <a:solidFill>
                  <a:srgbClr val="1F1F1F"/>
                </a:solidFill>
                <a:highlight>
                  <a:schemeClr val="lt1"/>
                </a:highlight>
                <a:latin typeface="Arial"/>
                <a:ea typeface="Arial"/>
                <a:cs typeface="Arial"/>
                <a:sym typeface="Arial"/>
              </a:rPr>
              <a:t> Cơ chế lấy giá trị trung bình (GAP) đôi khi làm giảm mức độ nổi bật của một API độc hại duy nhất nếu nó nằm giữa quá nhiều lệnh API vô hại.</a:t>
            </a:r>
            <a:endParaRPr b="1" sz="1600">
              <a:solidFill>
                <a:srgbClr val="1F1F1F"/>
              </a:solidFill>
              <a:highlight>
                <a:schemeClr val="lt1"/>
              </a:highlight>
              <a:latin typeface="Arial"/>
              <a:ea typeface="Arial"/>
              <a:cs typeface="Arial"/>
              <a:sym typeface="Arial"/>
            </a:endParaRPr>
          </a:p>
        </p:txBody>
      </p:sp>
      <p:sp>
        <p:nvSpPr>
          <p:cNvPr id="199" name="Google Shape;199;g3d6ebb040dd_0_12"/>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d6ebb040dd_0_19"/>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Hướng phát triển</a:t>
            </a:r>
            <a:endParaRPr/>
          </a:p>
        </p:txBody>
      </p:sp>
      <p:sp>
        <p:nvSpPr>
          <p:cNvPr id="205" name="Google Shape;205;g3d6ebb040dd_0_19"/>
          <p:cNvSpPr txBox="1"/>
          <p:nvPr>
            <p:ph idx="1" type="body"/>
          </p:nvPr>
        </p:nvSpPr>
        <p:spPr>
          <a:xfrm>
            <a:off x="471900" y="1634550"/>
            <a:ext cx="8222100" cy="1874400"/>
          </a:xfrm>
          <a:prstGeom prst="rect">
            <a:avLst/>
          </a:prstGeom>
          <a:noFill/>
          <a:ln>
            <a:noFill/>
          </a:ln>
        </p:spPr>
        <p:txBody>
          <a:bodyPr anchorCtr="0" anchor="t" bIns="91425" lIns="91425" spcFirstLastPara="1" rIns="91425" wrap="square" tIns="91425">
            <a:noAutofit/>
          </a:bodyPr>
          <a:lstStyle/>
          <a:p>
            <a:pPr indent="-330200" lvl="0" marL="457200" rtl="0" algn="l">
              <a:spcBef>
                <a:spcPts val="60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Hybrid Pooling:</a:t>
            </a:r>
            <a:r>
              <a:rPr lang="en-US" sz="1600">
                <a:solidFill>
                  <a:srgbClr val="1F1F1F"/>
                </a:solidFill>
                <a:highlight>
                  <a:schemeClr val="lt1"/>
                </a:highlight>
                <a:latin typeface="Arial"/>
                <a:ea typeface="Arial"/>
                <a:cs typeface="Arial"/>
                <a:sym typeface="Arial"/>
              </a:rPr>
              <a:t> Kết hợp GAP và Global Max Pooling để bắt trọn cả ngữ cảnh toàn cục lẫn các hành vi đột biến cục bộ.</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Complete Transformer:</a:t>
            </a:r>
            <a:r>
              <a:rPr lang="en-US" sz="1600">
                <a:solidFill>
                  <a:srgbClr val="1F1F1F"/>
                </a:solidFill>
                <a:highlight>
                  <a:schemeClr val="lt1"/>
                </a:highlight>
                <a:latin typeface="Arial"/>
                <a:ea typeface="Arial"/>
                <a:cs typeface="Arial"/>
                <a:sym typeface="Arial"/>
              </a:rPr>
              <a:t> Nâng cấp lên kiến trúc Transformer hoàn chỉnh để xử lý các chuỗi hành vi dài và phức tạp hơn.</a:t>
            </a:r>
            <a:endParaRPr sz="1600">
              <a:solidFill>
                <a:srgbClr val="1F1F1F"/>
              </a:solidFill>
              <a:highlight>
                <a:schemeClr val="lt1"/>
              </a:highlight>
              <a:latin typeface="Arial"/>
              <a:ea typeface="Arial"/>
              <a:cs typeface="Arial"/>
              <a:sym typeface="Arial"/>
            </a:endParaRPr>
          </a:p>
          <a:p>
            <a:pPr indent="-330200" lvl="0" marL="457200" rtl="0" algn="l">
              <a:spcBef>
                <a:spcPts val="0"/>
              </a:spcBef>
              <a:spcAft>
                <a:spcPts val="0"/>
              </a:spcAft>
              <a:buClr>
                <a:srgbClr val="1F1F1F"/>
              </a:buClr>
              <a:buSzPts val="1600"/>
              <a:buFont typeface="Arial"/>
              <a:buChar char="●"/>
            </a:pPr>
            <a:r>
              <a:rPr b="1" lang="en-US" sz="1600">
                <a:solidFill>
                  <a:srgbClr val="1F1F1F"/>
                </a:solidFill>
                <a:highlight>
                  <a:schemeClr val="lt1"/>
                </a:highlight>
                <a:latin typeface="Arial"/>
                <a:ea typeface="Arial"/>
                <a:cs typeface="Arial"/>
                <a:sym typeface="Arial"/>
              </a:rPr>
              <a:t>Real-time XAI:</a:t>
            </a:r>
            <a:r>
              <a:rPr lang="en-US" sz="1600">
                <a:solidFill>
                  <a:srgbClr val="1F1F1F"/>
                </a:solidFill>
                <a:highlight>
                  <a:schemeClr val="lt1"/>
                </a:highlight>
                <a:latin typeface="Arial"/>
                <a:ea typeface="Arial"/>
                <a:cs typeface="Arial"/>
                <a:sym typeface="Arial"/>
              </a:rPr>
              <a:t> Tối ưu hóa thuật toán để cung cấp lời giải thích ngay khi mã độc đang thực thi trong môi trường Sandbox.</a:t>
            </a:r>
            <a:endParaRPr b="1" sz="1600">
              <a:solidFill>
                <a:srgbClr val="1F1F1F"/>
              </a:solidFill>
              <a:highlight>
                <a:schemeClr val="lt1"/>
              </a:highlight>
              <a:latin typeface="Arial"/>
              <a:ea typeface="Arial"/>
              <a:cs typeface="Arial"/>
              <a:sym typeface="Arial"/>
            </a:endParaRPr>
          </a:p>
        </p:txBody>
      </p:sp>
      <p:sp>
        <p:nvSpPr>
          <p:cNvPr id="206" name="Google Shape;206;g3d6ebb040dd_0_19"/>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d6ebb040dd_0_31"/>
          <p:cNvSpPr txBox="1"/>
          <p:nvPr>
            <p:ph type="title"/>
          </p:nvPr>
        </p:nvSpPr>
        <p:spPr>
          <a:xfrm>
            <a:off x="471900" y="0"/>
            <a:ext cx="8222100" cy="72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200"/>
              <a:buNone/>
            </a:pPr>
            <a:r>
              <a:rPr b="1" lang="en-US"/>
              <a:t>Tổng kết</a:t>
            </a:r>
            <a:endParaRPr/>
          </a:p>
        </p:txBody>
      </p:sp>
      <p:sp>
        <p:nvSpPr>
          <p:cNvPr id="212" name="Google Shape;212;g3d6ebb040dd_0_31"/>
          <p:cNvSpPr txBox="1"/>
          <p:nvPr>
            <p:ph idx="1" type="body"/>
          </p:nvPr>
        </p:nvSpPr>
        <p:spPr>
          <a:xfrm>
            <a:off x="460950" y="1221000"/>
            <a:ext cx="8222100" cy="2701500"/>
          </a:xfrm>
          <a:prstGeom prst="rect">
            <a:avLst/>
          </a:prstGeom>
          <a:noFill/>
          <a:ln>
            <a:noFill/>
          </a:ln>
        </p:spPr>
        <p:txBody>
          <a:bodyPr anchorCtr="0" anchor="t" bIns="91425" lIns="91425" spcFirstLastPara="1" rIns="91425" wrap="square" tIns="91425">
            <a:noAutofit/>
          </a:bodyPr>
          <a:lstStyle/>
          <a:p>
            <a:pPr indent="-311150" lvl="0" marL="457200" rtl="0" algn="l">
              <a:spcBef>
                <a:spcPts val="600"/>
              </a:spcBef>
              <a:spcAft>
                <a:spcPts val="0"/>
              </a:spcAft>
              <a:buClr>
                <a:srgbClr val="1F1F1F"/>
              </a:buClr>
              <a:buSzPts val="1300"/>
              <a:buFont typeface="Arial"/>
              <a:buChar char="●"/>
            </a:pPr>
            <a:r>
              <a:rPr b="1" lang="en-US" sz="1300">
                <a:solidFill>
                  <a:srgbClr val="1F1F1F"/>
                </a:solidFill>
                <a:highlight>
                  <a:srgbClr val="F9F9F9"/>
                </a:highlight>
                <a:latin typeface="Arial"/>
                <a:ea typeface="Arial"/>
                <a:cs typeface="Arial"/>
                <a:sym typeface="Arial"/>
              </a:rPr>
              <a:t>Mục tiêu:</a:t>
            </a:r>
            <a:r>
              <a:rPr lang="en-US" sz="1300">
                <a:solidFill>
                  <a:srgbClr val="1F1F1F"/>
                </a:solidFill>
                <a:highlight>
                  <a:srgbClr val="F9F9F9"/>
                </a:highlight>
                <a:latin typeface="Arial"/>
                <a:ea typeface="Arial"/>
                <a:cs typeface="Arial"/>
                <a:sym typeface="Arial"/>
              </a:rPr>
              <a:t> Xử lý bài toán "hộp đen" trong phát hiện mã độc bằng cách kết hợp Deep Learning hiệu năng cao và khả năng giải thích tường minh (</a:t>
            </a:r>
            <a:r>
              <a:rPr b="1" lang="en-US" sz="1300">
                <a:solidFill>
                  <a:srgbClr val="1F1F1F"/>
                </a:solidFill>
                <a:highlight>
                  <a:srgbClr val="F9F9F9"/>
                </a:highlight>
                <a:latin typeface="Arial"/>
                <a:ea typeface="Arial"/>
                <a:cs typeface="Arial"/>
                <a:sym typeface="Arial"/>
              </a:rPr>
              <a:t>XAI</a:t>
            </a:r>
            <a:r>
              <a:rPr lang="en-US" sz="1300">
                <a:solidFill>
                  <a:srgbClr val="1F1F1F"/>
                </a:solidFill>
                <a:highlight>
                  <a:srgbClr val="F9F9F9"/>
                </a:highlight>
                <a:latin typeface="Arial"/>
                <a:ea typeface="Arial"/>
                <a:cs typeface="Arial"/>
                <a:sym typeface="Arial"/>
              </a:rPr>
              <a:t>).</a:t>
            </a:r>
            <a:endParaRPr sz="1300">
              <a:solidFill>
                <a:srgbClr val="1F1F1F"/>
              </a:solidFill>
              <a:highlight>
                <a:srgbClr val="F9F9F9"/>
              </a:highlight>
              <a:latin typeface="Arial"/>
              <a:ea typeface="Arial"/>
              <a:cs typeface="Arial"/>
              <a:sym typeface="Arial"/>
            </a:endParaRPr>
          </a:p>
          <a:p>
            <a:pPr indent="-311150" lvl="0" marL="457200" rtl="0" algn="l">
              <a:spcBef>
                <a:spcPts val="0"/>
              </a:spcBef>
              <a:spcAft>
                <a:spcPts val="0"/>
              </a:spcAft>
              <a:buClr>
                <a:srgbClr val="1F1F1F"/>
              </a:buClr>
              <a:buSzPts val="1300"/>
              <a:buFont typeface="Arial"/>
              <a:buChar char="●"/>
            </a:pPr>
            <a:r>
              <a:rPr b="1" lang="en-US" sz="1300">
                <a:solidFill>
                  <a:srgbClr val="1F1F1F"/>
                </a:solidFill>
                <a:highlight>
                  <a:srgbClr val="F9F9F9"/>
                </a:highlight>
                <a:latin typeface="Arial"/>
                <a:ea typeface="Arial"/>
                <a:cs typeface="Arial"/>
                <a:sym typeface="Arial"/>
              </a:rPr>
              <a:t>Hệ thống lõi:</a:t>
            </a:r>
            <a:r>
              <a:rPr lang="en-US" sz="1300">
                <a:solidFill>
                  <a:srgbClr val="1F1F1F"/>
                </a:solidFill>
                <a:highlight>
                  <a:srgbClr val="F9F9F9"/>
                </a:highlight>
                <a:latin typeface="Arial"/>
                <a:ea typeface="Arial"/>
                <a:cs typeface="Arial"/>
                <a:sym typeface="Arial"/>
              </a:rPr>
              <a:t> Kiến trúc cải tiến </a:t>
            </a:r>
            <a:r>
              <a:rPr b="1" lang="en-US" sz="1300">
                <a:solidFill>
                  <a:srgbClr val="1F1F1F"/>
                </a:solidFill>
                <a:highlight>
                  <a:srgbClr val="F9F9F9"/>
                </a:highlight>
                <a:latin typeface="Arial"/>
                <a:ea typeface="Arial"/>
                <a:cs typeface="Arial"/>
                <a:sym typeface="Arial"/>
              </a:rPr>
              <a:t>BiLSTM + Multi-Head Attention + Global Average Pooling (GAP)</a:t>
            </a:r>
            <a:r>
              <a:rPr lang="en-US" sz="1300">
                <a:solidFill>
                  <a:srgbClr val="1F1F1F"/>
                </a:solidFill>
                <a:highlight>
                  <a:srgbClr val="F9F9F9"/>
                </a:highlight>
                <a:latin typeface="Arial"/>
                <a:ea typeface="Arial"/>
                <a:cs typeface="Arial"/>
                <a:sym typeface="Arial"/>
              </a:rPr>
              <a:t> giúp tối ưu hóa việc học trình tự API và giảm thiểu tài nguyên (RAM/CPU).</a:t>
            </a:r>
            <a:endParaRPr sz="1300">
              <a:solidFill>
                <a:srgbClr val="1F1F1F"/>
              </a:solidFill>
              <a:highlight>
                <a:srgbClr val="F9F9F9"/>
              </a:highlight>
              <a:latin typeface="Arial"/>
              <a:ea typeface="Arial"/>
              <a:cs typeface="Arial"/>
              <a:sym typeface="Arial"/>
            </a:endParaRPr>
          </a:p>
          <a:p>
            <a:pPr indent="-311150" lvl="0" marL="457200" rtl="0" algn="l">
              <a:spcBef>
                <a:spcPts val="0"/>
              </a:spcBef>
              <a:spcAft>
                <a:spcPts val="0"/>
              </a:spcAft>
              <a:buClr>
                <a:srgbClr val="1F1F1F"/>
              </a:buClr>
              <a:buSzPts val="1300"/>
              <a:buFont typeface="Arial"/>
              <a:buChar char="●"/>
            </a:pPr>
            <a:r>
              <a:rPr b="1" lang="en-US" sz="1300">
                <a:solidFill>
                  <a:srgbClr val="1F1F1F"/>
                </a:solidFill>
                <a:highlight>
                  <a:srgbClr val="F9F9F9"/>
                </a:highlight>
                <a:latin typeface="Arial"/>
                <a:ea typeface="Arial"/>
                <a:cs typeface="Arial"/>
                <a:sym typeface="Arial"/>
              </a:rPr>
              <a:t>XAI:</a:t>
            </a:r>
            <a:r>
              <a:rPr lang="en-US" sz="1300">
                <a:solidFill>
                  <a:srgbClr val="1F1F1F"/>
                </a:solidFill>
                <a:highlight>
                  <a:srgbClr val="F9F9F9"/>
                </a:highlight>
                <a:latin typeface="Arial"/>
                <a:ea typeface="Arial"/>
                <a:cs typeface="Arial"/>
                <a:sym typeface="Arial"/>
              </a:rPr>
              <a:t> Bộ công cụ tích hợp 4 phương pháp (</a:t>
            </a:r>
            <a:r>
              <a:rPr b="1" lang="en-US" sz="1300">
                <a:solidFill>
                  <a:srgbClr val="1F1F1F"/>
                </a:solidFill>
                <a:highlight>
                  <a:srgbClr val="F9F9F9"/>
                </a:highlight>
                <a:latin typeface="Arial"/>
                <a:ea typeface="Arial"/>
                <a:cs typeface="Arial"/>
                <a:sym typeface="Arial"/>
              </a:rPr>
              <a:t>SHAP, LIME, LRP, Attention</a:t>
            </a:r>
            <a:r>
              <a:rPr lang="en-US" sz="1300">
                <a:solidFill>
                  <a:srgbClr val="1F1F1F"/>
                </a:solidFill>
                <a:highlight>
                  <a:srgbClr val="F9F9F9"/>
                </a:highlight>
                <a:latin typeface="Arial"/>
                <a:ea typeface="Arial"/>
                <a:cs typeface="Arial"/>
                <a:sym typeface="Arial"/>
              </a:rPr>
              <a:t>) giúp trực quan hóa mức độ độc hại của từng hành vi API qua các bản đồ nhiệt (Heatmap).</a:t>
            </a:r>
            <a:endParaRPr sz="1300">
              <a:solidFill>
                <a:srgbClr val="1F1F1F"/>
              </a:solidFill>
              <a:highlight>
                <a:srgbClr val="F9F9F9"/>
              </a:highlight>
              <a:latin typeface="Arial"/>
              <a:ea typeface="Arial"/>
              <a:cs typeface="Arial"/>
              <a:sym typeface="Arial"/>
            </a:endParaRPr>
          </a:p>
          <a:p>
            <a:pPr indent="-311150" lvl="0" marL="457200" rtl="0" algn="l">
              <a:spcBef>
                <a:spcPts val="0"/>
              </a:spcBef>
              <a:spcAft>
                <a:spcPts val="0"/>
              </a:spcAft>
              <a:buClr>
                <a:srgbClr val="1F1F1F"/>
              </a:buClr>
              <a:buSzPts val="1300"/>
              <a:buFont typeface="Arial"/>
              <a:buChar char="●"/>
            </a:pPr>
            <a:r>
              <a:rPr b="1" lang="en-US" sz="1300">
                <a:solidFill>
                  <a:srgbClr val="1F1F1F"/>
                </a:solidFill>
                <a:highlight>
                  <a:srgbClr val="F9F9F9"/>
                </a:highlight>
                <a:latin typeface="Arial"/>
                <a:ea typeface="Arial"/>
                <a:cs typeface="Arial"/>
                <a:sym typeface="Arial"/>
              </a:rPr>
              <a:t>Kết quả:</a:t>
            </a:r>
            <a:endParaRPr b="1" sz="1300">
              <a:solidFill>
                <a:srgbClr val="1F1F1F"/>
              </a:solidFill>
              <a:highlight>
                <a:srgbClr val="F9F9F9"/>
              </a:highlight>
              <a:latin typeface="Arial"/>
              <a:ea typeface="Arial"/>
              <a:cs typeface="Arial"/>
              <a:sym typeface="Arial"/>
            </a:endParaRPr>
          </a:p>
          <a:p>
            <a:pPr indent="-311150" lvl="1" marL="914400" rtl="0" algn="l">
              <a:spcBef>
                <a:spcPts val="0"/>
              </a:spcBef>
              <a:spcAft>
                <a:spcPts val="0"/>
              </a:spcAft>
              <a:buClr>
                <a:srgbClr val="1F1F1F"/>
              </a:buClr>
              <a:buSzPts val="1300"/>
              <a:buFont typeface="Arial"/>
              <a:buAutoNum type="alphaLcPeriod"/>
            </a:pPr>
            <a:r>
              <a:rPr lang="en-US" sz="1300">
                <a:solidFill>
                  <a:srgbClr val="1F1F1F"/>
                </a:solidFill>
                <a:highlight>
                  <a:srgbClr val="F9F9F9"/>
                </a:highlight>
                <a:latin typeface="Arial"/>
                <a:ea typeface="Arial"/>
                <a:cs typeface="Arial"/>
                <a:sym typeface="Arial"/>
              </a:rPr>
              <a:t>Đạt độ chính xác thực nghiệm vượt trội (</a:t>
            </a:r>
            <a:r>
              <a:rPr b="1" lang="en-US" sz="1300">
                <a:solidFill>
                  <a:srgbClr val="1F1F1F"/>
                </a:solidFill>
                <a:highlight>
                  <a:srgbClr val="F9F9F9"/>
                </a:highlight>
                <a:latin typeface="Arial"/>
                <a:ea typeface="Arial"/>
                <a:cs typeface="Arial"/>
                <a:sym typeface="Arial"/>
              </a:rPr>
              <a:t>&gt;90%</a:t>
            </a:r>
            <a:r>
              <a:rPr lang="en-US" sz="1300">
                <a:solidFill>
                  <a:srgbClr val="1F1F1F"/>
                </a:solidFill>
                <a:highlight>
                  <a:srgbClr val="F9F9F9"/>
                </a:highlight>
                <a:latin typeface="Arial"/>
                <a:ea typeface="Arial"/>
                <a:cs typeface="Arial"/>
                <a:sym typeface="Arial"/>
              </a:rPr>
              <a:t>).</a:t>
            </a:r>
            <a:endParaRPr sz="1300">
              <a:solidFill>
                <a:srgbClr val="1F1F1F"/>
              </a:solidFill>
              <a:highlight>
                <a:srgbClr val="F9F9F9"/>
              </a:highlight>
              <a:latin typeface="Arial"/>
              <a:ea typeface="Arial"/>
              <a:cs typeface="Arial"/>
              <a:sym typeface="Arial"/>
            </a:endParaRPr>
          </a:p>
          <a:p>
            <a:pPr indent="-311150" lvl="1" marL="914400" rtl="0" algn="l">
              <a:spcBef>
                <a:spcPts val="0"/>
              </a:spcBef>
              <a:spcAft>
                <a:spcPts val="0"/>
              </a:spcAft>
              <a:buClr>
                <a:srgbClr val="1F1F1F"/>
              </a:buClr>
              <a:buSzPts val="1300"/>
              <a:buFont typeface="Arial"/>
              <a:buAutoNum type="alphaLcPeriod"/>
            </a:pPr>
            <a:r>
              <a:rPr lang="en-US" sz="1300">
                <a:solidFill>
                  <a:srgbClr val="1F1F1F"/>
                </a:solidFill>
                <a:highlight>
                  <a:srgbClr val="F9F9F9"/>
                </a:highlight>
                <a:latin typeface="Arial"/>
                <a:ea typeface="Arial"/>
                <a:cs typeface="Arial"/>
                <a:sym typeface="Arial"/>
              </a:rPr>
              <a:t>Hỗ trợ đa định dạng dữ liệu (Sequential/Frequency).</a:t>
            </a:r>
            <a:endParaRPr sz="1300">
              <a:solidFill>
                <a:srgbClr val="1F1F1F"/>
              </a:solidFill>
              <a:highlight>
                <a:srgbClr val="F9F9F9"/>
              </a:highlight>
              <a:latin typeface="Arial"/>
              <a:ea typeface="Arial"/>
              <a:cs typeface="Arial"/>
              <a:sym typeface="Arial"/>
            </a:endParaRPr>
          </a:p>
          <a:p>
            <a:pPr indent="-311150" lvl="1" marL="914400" rtl="0" algn="l">
              <a:spcBef>
                <a:spcPts val="0"/>
              </a:spcBef>
              <a:spcAft>
                <a:spcPts val="0"/>
              </a:spcAft>
              <a:buClr>
                <a:srgbClr val="1F1F1F"/>
              </a:buClr>
              <a:buSzPts val="1300"/>
              <a:buFont typeface="Arial"/>
              <a:buAutoNum type="alphaLcPeriod"/>
            </a:pPr>
            <a:r>
              <a:rPr lang="en-US" sz="1300">
                <a:solidFill>
                  <a:srgbClr val="1F1F1F"/>
                </a:solidFill>
                <a:highlight>
                  <a:srgbClr val="F9F9F9"/>
                </a:highlight>
                <a:latin typeface="Arial"/>
                <a:ea typeface="Arial"/>
                <a:cs typeface="Arial"/>
                <a:sym typeface="Arial"/>
              </a:rPr>
              <a:t>Giao diện Dashboard trực quan hỗ trợ chuyên gia phản ứng nhanh.</a:t>
            </a:r>
            <a:endParaRPr sz="1300">
              <a:solidFill>
                <a:srgbClr val="1F1F1F"/>
              </a:solidFill>
              <a:highlight>
                <a:srgbClr val="F9F9F9"/>
              </a:highlight>
              <a:latin typeface="Arial"/>
              <a:ea typeface="Arial"/>
              <a:cs typeface="Arial"/>
              <a:sym typeface="Arial"/>
            </a:endParaRPr>
          </a:p>
          <a:p>
            <a:pPr indent="-311150" lvl="0" marL="457200" rtl="0" algn="l">
              <a:spcBef>
                <a:spcPts val="0"/>
              </a:spcBef>
              <a:spcAft>
                <a:spcPts val="0"/>
              </a:spcAft>
              <a:buClr>
                <a:srgbClr val="1F1F1F"/>
              </a:buClr>
              <a:buSzPts val="1300"/>
              <a:buFont typeface="Arial"/>
              <a:buChar char="●"/>
            </a:pPr>
            <a:r>
              <a:rPr b="1" lang="en-US" sz="1300">
                <a:solidFill>
                  <a:srgbClr val="1F1F1F"/>
                </a:solidFill>
                <a:highlight>
                  <a:srgbClr val="F9F9F9"/>
                </a:highlight>
                <a:latin typeface="Arial"/>
                <a:ea typeface="Arial"/>
                <a:cs typeface="Arial"/>
                <a:sym typeface="Arial"/>
              </a:rPr>
              <a:t>Giá trị:</a:t>
            </a:r>
            <a:r>
              <a:rPr lang="en-US" sz="1300">
                <a:solidFill>
                  <a:srgbClr val="1F1F1F"/>
                </a:solidFill>
                <a:highlight>
                  <a:srgbClr val="F9F9F9"/>
                </a:highlight>
                <a:latin typeface="Arial"/>
                <a:ea typeface="Arial"/>
                <a:cs typeface="Arial"/>
                <a:sym typeface="Arial"/>
              </a:rPr>
              <a:t> Mang lại sự </a:t>
            </a:r>
            <a:r>
              <a:rPr b="1" lang="en-US" sz="1300">
                <a:solidFill>
                  <a:srgbClr val="1F1F1F"/>
                </a:solidFill>
                <a:highlight>
                  <a:srgbClr val="F9F9F9"/>
                </a:highlight>
                <a:latin typeface="Arial"/>
                <a:ea typeface="Arial"/>
                <a:cs typeface="Arial"/>
                <a:sym typeface="Arial"/>
              </a:rPr>
              <a:t>Minh bạch – Chính xác – Tin cậy</a:t>
            </a:r>
            <a:r>
              <a:rPr lang="en-US" sz="1300">
                <a:solidFill>
                  <a:srgbClr val="1F1F1F"/>
                </a:solidFill>
                <a:highlight>
                  <a:srgbClr val="F9F9F9"/>
                </a:highlight>
                <a:latin typeface="Arial"/>
                <a:ea typeface="Arial"/>
                <a:cs typeface="Arial"/>
                <a:sym typeface="Arial"/>
              </a:rPr>
              <a:t> cho các hệ thống phòng thủ mã độc thế hệ mới.</a:t>
            </a:r>
            <a:endParaRPr b="1" sz="1500">
              <a:solidFill>
                <a:srgbClr val="1F1F1F"/>
              </a:solidFill>
              <a:highlight>
                <a:srgbClr val="F9F9F9"/>
              </a:highlight>
              <a:latin typeface="Arial"/>
              <a:ea typeface="Arial"/>
              <a:cs typeface="Arial"/>
              <a:sym typeface="Arial"/>
            </a:endParaRPr>
          </a:p>
        </p:txBody>
      </p:sp>
      <p:sp>
        <p:nvSpPr>
          <p:cNvPr id="213" name="Google Shape;213;g3d6ebb040dd_0_31"/>
          <p:cNvSpPr/>
          <p:nvPr/>
        </p:nvSpPr>
        <p:spPr>
          <a:xfrm>
            <a:off x="0" y="4820475"/>
            <a:ext cx="91440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6ebb040dd_0_26"/>
          <p:cNvSpPr txBox="1"/>
          <p:nvPr>
            <p:ph type="title"/>
          </p:nvPr>
        </p:nvSpPr>
        <p:spPr>
          <a:xfrm>
            <a:off x="418225" y="2065350"/>
            <a:ext cx="8222100" cy="101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b="1" lang="en-US"/>
              <a:t>THANKS</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 R01">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